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 are Team NAVGATI. This is Impact Atlas. In one line: field photos go in, proof comes out. It takes photos and videos from the field and makes them searchable, checkable and easy to send to the right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Anyone who has worked in the field knows this. You come back with thousands of photos. They sit in WhatsApp and shared folders with names like final_FINAL2. You cannot find the right one, and you cannot easily prove when and where it was taken. Chennai is our example: it flooded badly in 2015 and again in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Atlas does four jobs. It reads each photo with AI. It files the photo on its own. You can ask it questions in normal words. And it builds a report you can send. No one has to sort anything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kinds of people. The field team just uploads from a phone. The analyst or officer needs to find proof quickly and send it on. Donors and judges want to see where and when a photo was taken and what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Upload goes straight to Cloudinary. The AI reads it. The photo is filed. Then you can ask questions or compare photos. Finally you make a report and send it. The screen shows each step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home screen. You drop a photo and watch it work. The five steps light up one by one. On the left is your original, on the right is what Cloudinary delivers, which is a smaller file that looks the same. The details on the bottom fill in as they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Nobody sorts anything. The library groups photos by site, phase and how severe the flooding is. The map on the right shows the whole archive. A wide tile means a lot of photos from that place. Red means more severe. If the AI is not sure about a photo, it is marked Needs review so a person can confirm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we are most proud of. You type a question the way you would ask a colleague. It searches three ways at once: the words in the captions, the meaning, and what the picture actually looks like. The answer has numbered links to the photos it used. Then it checks itself. In this example it flagged one claim out of five as not supported, and it tells you to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Reports are built the same way every time. The AI only writes the summary. Everything else comes from the data, so it stays factual. Each image carries its credit and licence. You can send it by a private link, by email, or as a share card made by Cloudinary.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tool itself knows nothing about floods. A playbook adds the extra pieces for one job. For Chennai that means seven flood-prone zones, live rain and river data from Open-Meteo, a risk score you can read, and the officer who should get the report. The amber boxes on the map are exactly those extras.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Cloudinary is at the centre of this. Uploads are signed and go straight from the browser. Cloudinary AI Vision reads each image. Every thumbnail, crop and report image is a Cloudinary URL made from the untouched original. Even the share card is built by Cloudinary text overlays. And for each report image we store the exact transformation, so anyone can check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 not want a black box. Photos are real and openly licensed with credit kept. Rain data is live. Anything simulated says so. The AI checks its own answers, and low confidence results go to a person. If the AI keys are missing, the app still works with simple rules. The diagram on the right shows the pieces.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want more playbooks, video frame analysis, and alerts by SMS and WhatsApp. The code is open on GitHub.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github.com/Team-NAVGATI/cloudinary-impact-atlas" TargetMode="Externa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3B2E"/>
        </a:solidFill>
      </p:bgPr>
    </p:bg>
    <p:spTree>
      <p:nvGrpSpPr>
        <p:cNvPr id="1" name=""/>
        <p:cNvGrpSpPr/>
        <p:nvPr/>
      </p:nvGrpSpPr>
      <p:grpSpPr>
        <a:xfrm>
          <a:off x="0" y="0"/>
          <a:ext cx="0" cy="0"/>
          <a:chOff x="0" y="0"/>
          <a:chExt cx="0" cy="0"/>
        </a:xfrm>
      </p:grpSpPr>
      <p:sp>
        <p:nvSpPr>
          <p:cNvPr id="2" name="Shape 0"/>
          <p:cNvSpPr/>
          <p:nvPr/>
        </p:nvSpPr>
        <p:spPr>
          <a:xfrm>
            <a:off x="457200" y="548640"/>
            <a:ext cx="548640" cy="548640"/>
          </a:xfrm>
          <a:prstGeom prst="ellipse">
            <a:avLst/>
          </a:prstGeom>
          <a:solidFill>
            <a:srgbClr val="F0C93C"/>
          </a:solidFill>
          <a:ln w="12700">
            <a:solidFill>
              <a:srgbClr val="F0C93C"/>
            </a:solidFill>
            <a:prstDash val="solid"/>
          </a:ln>
        </p:spPr>
      </p:sp>
      <p:pic>
        <p:nvPicPr>
          <p:cNvPr id="3" name="Image 0" descr="preencoded.png">    </p:cNvPr>
          <p:cNvPicPr>
            <a:picLocks noChangeAspect="1"/>
          </p:cNvPicPr>
          <p:nvPr/>
        </p:nvPicPr>
        <p:blipFill>
          <a:blip r:embed="rId1"/>
          <a:stretch>
            <a:fillRect/>
          </a:stretch>
        </p:blipFill>
        <p:spPr>
          <a:xfrm>
            <a:off x="605333" y="696773"/>
            <a:ext cx="252374" cy="252374"/>
          </a:xfrm>
          <a:prstGeom prst="rect">
            <a:avLst/>
          </a:prstGeom>
        </p:spPr>
      </p:pic>
      <p:sp>
        <p:nvSpPr>
          <p:cNvPr id="4" name="Text 1"/>
          <p:cNvSpPr txBox="1"/>
          <p:nvPr/>
        </p:nvSpPr>
        <p:spPr>
          <a:xfrm>
            <a:off x="457200" y="1417320"/>
            <a:ext cx="4206240" cy="82296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Impact Atlas</a:t>
            </a:r>
            <a:endParaRPr lang="en-US" sz="4800" dirty="0"/>
          </a:p>
        </p:txBody>
      </p:sp>
      <p:sp>
        <p:nvSpPr>
          <p:cNvPr id="5" name="Text 2"/>
          <p:cNvSpPr txBox="1"/>
          <p:nvPr/>
        </p:nvSpPr>
        <p:spPr>
          <a:xfrm>
            <a:off x="457200" y="2286000"/>
            <a:ext cx="4206240" cy="457200"/>
          </a:xfrm>
          <a:prstGeom prst="rect">
            <a:avLst/>
          </a:prstGeom>
          <a:noFill/>
          <a:ln/>
        </p:spPr>
        <p:txBody>
          <a:bodyPr wrap="square" lIns="0" tIns="0" rIns="0" bIns="0" rtlCol="0" anchor="ctr"/>
          <a:lstStyle/>
          <a:p>
            <a:pPr indent="0" marL="0">
              <a:buNone/>
            </a:pPr>
            <a:r>
              <a:rPr lang="en-US" sz="2400" b="1" dirty="0">
                <a:solidFill>
                  <a:srgbClr val="F0C93C"/>
                </a:solidFill>
                <a:latin typeface="Calibri" pitchFamily="34" charset="0"/>
                <a:ea typeface="Calibri" pitchFamily="34" charset="-122"/>
                <a:cs typeface="Calibri" pitchFamily="34" charset="-120"/>
              </a:rPr>
              <a:t>Field photos in. Proof out.</a:t>
            </a:r>
            <a:endParaRPr lang="en-US" sz="2400" dirty="0"/>
          </a:p>
        </p:txBody>
      </p:sp>
      <p:sp>
        <p:nvSpPr>
          <p:cNvPr id="6" name="Text 3"/>
          <p:cNvSpPr txBox="1"/>
          <p:nvPr/>
        </p:nvSpPr>
        <p:spPr>
          <a:xfrm>
            <a:off x="457200" y="2880360"/>
            <a:ext cx="3931920" cy="822960"/>
          </a:xfrm>
          <a:prstGeom prst="rect">
            <a:avLst/>
          </a:prstGeom>
          <a:noFill/>
          <a:ln/>
        </p:spPr>
        <p:txBody>
          <a:bodyPr wrap="square" lIns="0" tIns="0" rIns="0" bIns="0" rtlCol="0" anchor="t"/>
          <a:lstStyle/>
          <a:p>
            <a:pPr indent="0" marL="0">
              <a:buNone/>
            </a:pPr>
            <a:r>
              <a:rPr lang="en-US" sz="1600" dirty="0">
                <a:solidFill>
                  <a:srgbClr val="B9D3C7"/>
                </a:solidFill>
                <a:latin typeface="Calibri" pitchFamily="34" charset="0"/>
                <a:ea typeface="Calibri" pitchFamily="34" charset="-122"/>
                <a:cs typeface="Calibri" pitchFamily="34" charset="-120"/>
              </a:rPr>
              <a:t>A tool that turns field photos and videos into evidence you can search, prove and send.</a:t>
            </a:r>
            <a:endParaRPr lang="en-US" sz="1600" dirty="0"/>
          </a:p>
        </p:txBody>
      </p:sp>
      <p:sp>
        <p:nvSpPr>
          <p:cNvPr id="7" name="Text 4"/>
          <p:cNvSpPr txBox="1"/>
          <p:nvPr/>
        </p:nvSpPr>
        <p:spPr>
          <a:xfrm>
            <a:off x="457200" y="4434840"/>
            <a:ext cx="4754880" cy="274320"/>
          </a:xfrm>
          <a:prstGeom prst="rect">
            <a:avLst/>
          </a:prstGeom>
          <a:noFill/>
          <a:ln/>
        </p:spPr>
        <p:txBody>
          <a:bodyPr wrap="square" lIns="0" tIns="0" rIns="0" bIns="0" rtlCol="0" anchor="ctr"/>
          <a:lstStyle/>
          <a:p>
            <a:pPr indent="0" marL="0">
              <a:buNone/>
            </a:pPr>
            <a:r>
              <a:rPr lang="en-US" sz="1200" dirty="0">
                <a:solidFill>
                  <a:srgbClr val="B9D3C7"/>
                </a:solidFill>
                <a:latin typeface="Calibri" pitchFamily="34" charset="0"/>
                <a:ea typeface="Calibri" pitchFamily="34" charset="-122"/>
                <a:cs typeface="Calibri" pitchFamily="34" charset="-120"/>
              </a:rPr>
              <a:t>Team NAVGATI  |  CodeFibonacci x Cloudinary  |  Problem 02</a:t>
            </a:r>
            <a:endParaRPr lang="en-US" sz="1200" dirty="0"/>
          </a:p>
        </p:txBody>
      </p:sp>
      <p:pic>
        <p:nvPicPr>
          <p:cNvPr id="8" name="Image 1" descr="D:\Current Projects\cloudinary-impact-atlas\docs\screenshots\01-landing.jpg">    </p:cNvPr>
          <p:cNvPicPr>
            <a:picLocks noChangeAspect="1"/>
          </p:cNvPicPr>
          <p:nvPr/>
        </p:nvPicPr>
        <p:blipFill>
          <a:blip r:embed="rId2"/>
          <a:stretch>
            <a:fillRect/>
          </a:stretch>
        </p:blipFill>
        <p:spPr>
          <a:xfrm>
            <a:off x="4846320" y="1051560"/>
            <a:ext cx="3840480" cy="2419502"/>
          </a:xfrm>
          <a:prstGeom prst="rect">
            <a:avLst/>
          </a:prstGeom>
          <a:effectLst>
            <a:outerShdw sx="100000" sy="100000" kx="0" ky="0" algn="bl" rotWithShape="0" blurRad="152400" dist="38100" dir="5400000">
              <a:srgbClr val="000000">
                <a:alpha val="35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12201A"/>
                </a:solidFill>
                <a:latin typeface="Calibri" pitchFamily="34" charset="0"/>
                <a:ea typeface="Calibri" pitchFamily="34" charset="-122"/>
                <a:cs typeface="Calibri" pitchFamily="34" charset="-120"/>
              </a:rPr>
              <a:t>The problem</a:t>
            </a:r>
            <a:endParaRPr lang="en-US" sz="3000" dirty="0"/>
          </a:p>
        </p:txBody>
      </p:sp>
      <p:sp>
        <p:nvSpPr>
          <p:cNvPr id="3" name="Text 1"/>
          <p:cNvSpPr txBox="1"/>
          <p:nvPr/>
        </p:nvSpPr>
        <p:spPr>
          <a:xfrm>
            <a:off x="457200" y="1234440"/>
            <a:ext cx="4297680" cy="256032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2201A"/>
                </a:solidFill>
                <a:latin typeface="Calibri" pitchFamily="34" charset="0"/>
                <a:ea typeface="Calibri" pitchFamily="34" charset="-122"/>
                <a:cs typeface="Calibri" pitchFamily="34" charset="-120"/>
              </a:rPr>
              <a:t>Field teams take thousands of photos and videos</a:t>
            </a:r>
            <a:endParaRPr lang="en-US" sz="1600" dirty="0"/>
          </a:p>
          <a:p>
            <a:pPr marL="203200" indent="-203200">
              <a:spcAft>
                <a:spcPts val="800"/>
              </a:spcAft>
              <a:buSzPct val="100000"/>
              <a:buChar char="•"/>
            </a:pPr>
            <a:r>
              <a:rPr lang="en-US" sz="1600" dirty="0">
                <a:solidFill>
                  <a:srgbClr val="12201A"/>
                </a:solidFill>
                <a:latin typeface="Calibri" pitchFamily="34" charset="0"/>
                <a:ea typeface="Calibri" pitchFamily="34" charset="-122"/>
                <a:cs typeface="Calibri" pitchFamily="34" charset="-120"/>
              </a:rPr>
              <a:t>They end up in phones, WhatsApp and shared drives</a:t>
            </a:r>
            <a:endParaRPr lang="en-US" sz="1600" dirty="0"/>
          </a:p>
          <a:p>
            <a:pPr marL="203200" indent="-203200">
              <a:spcAft>
                <a:spcPts val="800"/>
              </a:spcAft>
              <a:buSzPct val="100000"/>
              <a:buChar char="•"/>
            </a:pPr>
            <a:r>
              <a:rPr lang="en-US" sz="1600" dirty="0">
                <a:solidFill>
                  <a:srgbClr val="12201A"/>
                </a:solidFill>
                <a:latin typeface="Calibri" pitchFamily="34" charset="0"/>
                <a:ea typeface="Calibri" pitchFamily="34" charset="-122"/>
                <a:cs typeface="Calibri" pitchFamily="34" charset="-120"/>
              </a:rPr>
              <a:t>Nobody can search them by what is in them</a:t>
            </a:r>
            <a:endParaRPr lang="en-US" sz="1600" dirty="0"/>
          </a:p>
          <a:p>
            <a:pPr marL="203200" indent="-203200">
              <a:spcAft>
                <a:spcPts val="800"/>
              </a:spcAft>
              <a:buSzPct val="100000"/>
              <a:buChar char="•"/>
            </a:pPr>
            <a:r>
              <a:rPr lang="en-US" sz="1600" dirty="0">
                <a:solidFill>
                  <a:srgbClr val="12201A"/>
                </a:solidFill>
                <a:latin typeface="Calibri" pitchFamily="34" charset="0"/>
                <a:ea typeface="Calibri" pitchFamily="34" charset="-122"/>
                <a:cs typeface="Calibri" pitchFamily="34" charset="-120"/>
              </a:rPr>
              <a:t>Nobody can prove where and when they were taken</a:t>
            </a:r>
            <a:endParaRPr lang="en-US" sz="1600" dirty="0"/>
          </a:p>
          <a:p>
            <a:pPr marL="203200" indent="-203200">
              <a:spcAft>
                <a:spcPts val="800"/>
              </a:spcAft>
              <a:buSzPct val="100000"/>
              <a:buChar char="•"/>
            </a:pPr>
            <a:r>
              <a:rPr lang="en-US" sz="1600" dirty="0">
                <a:solidFill>
                  <a:srgbClr val="12201A"/>
                </a:solidFill>
                <a:latin typeface="Calibri" pitchFamily="34" charset="0"/>
                <a:ea typeface="Calibri" pitchFamily="34" charset="-122"/>
                <a:cs typeface="Calibri" pitchFamily="34" charset="-120"/>
              </a:rPr>
              <a:t>Reports take days to put together by hand</a:t>
            </a:r>
            <a:endParaRPr lang="en-US" sz="1600" dirty="0"/>
          </a:p>
        </p:txBody>
      </p:sp>
      <p:sp>
        <p:nvSpPr>
          <p:cNvPr id="4" name="Shape 2"/>
          <p:cNvSpPr/>
          <p:nvPr/>
        </p:nvSpPr>
        <p:spPr>
          <a:xfrm>
            <a:off x="4937760" y="1234440"/>
            <a:ext cx="3749040" cy="2514600"/>
          </a:xfrm>
          <a:prstGeom prst="roundRect">
            <a:avLst>
              <a:gd name="adj" fmla="val 2909"/>
            </a:avLst>
          </a:prstGeom>
          <a:solidFill>
            <a:srgbClr val="EEF3EF"/>
          </a:solidFill>
          <a:ln w="12700">
            <a:solidFill>
              <a:srgbClr val="D9E0DB"/>
            </a:solidFill>
            <a:prstDash val="solid"/>
          </a:ln>
        </p:spPr>
      </p:sp>
      <p:sp>
        <p:nvSpPr>
          <p:cNvPr id="5" name="Text 3"/>
          <p:cNvSpPr txBox="1"/>
          <p:nvPr/>
        </p:nvSpPr>
        <p:spPr>
          <a:xfrm>
            <a:off x="5120640" y="1325880"/>
            <a:ext cx="3383280" cy="274320"/>
          </a:xfrm>
          <a:prstGeom prst="rect">
            <a:avLst/>
          </a:prstGeom>
          <a:noFill/>
          <a:ln/>
        </p:spPr>
        <p:txBody>
          <a:bodyPr wrap="square" lIns="0" tIns="0" rIns="0" bIns="0" rtlCol="0" anchor="ctr"/>
          <a:lstStyle/>
          <a:p>
            <a:pPr indent="0" marL="0">
              <a:buNone/>
            </a:pPr>
            <a:r>
              <a:rPr lang="en-US" sz="1200" b="1" dirty="0">
                <a:solidFill>
                  <a:srgbClr val="5B675F"/>
                </a:solidFill>
                <a:latin typeface="Calibri" pitchFamily="34" charset="0"/>
                <a:ea typeface="Calibri" pitchFamily="34" charset="-122"/>
                <a:cs typeface="Calibri" pitchFamily="34" charset="-120"/>
              </a:rPr>
              <a:t>What a shared drive looks like</a:t>
            </a:r>
            <a:endParaRPr lang="en-US" sz="1200" dirty="0"/>
          </a:p>
        </p:txBody>
      </p:sp>
      <p:sp>
        <p:nvSpPr>
          <p:cNvPr id="6" name="Text 4"/>
          <p:cNvSpPr txBox="1"/>
          <p:nvPr/>
        </p:nvSpPr>
        <p:spPr>
          <a:xfrm>
            <a:off x="5120640" y="1645920"/>
            <a:ext cx="3429000" cy="2011680"/>
          </a:xfrm>
          <a:prstGeom prst="rect">
            <a:avLst/>
          </a:prstGeom>
          <a:noFill/>
          <a:ln/>
        </p:spPr>
        <p:txBody>
          <a:bodyPr wrap="square" lIns="0" tIns="0" rIns="0" bIns="0" rtlCol="0" anchor="t"/>
          <a:lstStyle/>
          <a:p>
            <a:pPr indent="0" marL="0">
              <a:spcAft>
                <a:spcPts val="500"/>
              </a:spcAft>
              <a:buNone/>
            </a:pPr>
            <a:r>
              <a:rPr lang="en-US" sz="1100" dirty="0">
                <a:solidFill>
                  <a:srgbClr val="5B675F"/>
                </a:solidFill>
                <a:latin typeface="Courier New" pitchFamily="34" charset="0"/>
                <a:ea typeface="Courier New" pitchFamily="34" charset="-122"/>
                <a:cs typeface="Courier New" pitchFamily="34" charset="-120"/>
              </a:rPr>
              <a:t>IMG_2041.jpg</a:t>
            </a:r>
            <a:endParaRPr lang="en-US" sz="1100" dirty="0"/>
          </a:p>
          <a:p>
            <a:pPr indent="0" marL="0">
              <a:spcAft>
                <a:spcPts val="500"/>
              </a:spcAft>
              <a:buNone/>
            </a:pPr>
            <a:r>
              <a:rPr lang="en-US" sz="1100" dirty="0">
                <a:solidFill>
                  <a:srgbClr val="5B675F"/>
                </a:solidFill>
                <a:latin typeface="Courier New" pitchFamily="34" charset="0"/>
                <a:ea typeface="Courier New" pitchFamily="34" charset="-122"/>
                <a:cs typeface="Courier New" pitchFamily="34" charset="-120"/>
              </a:rPr>
              <a:t>WhatsApp Image 2023-12-04 (3).jpeg</a:t>
            </a:r>
            <a:endParaRPr lang="en-US" sz="1100" dirty="0"/>
          </a:p>
          <a:p>
            <a:pPr indent="0" marL="0">
              <a:spcAft>
                <a:spcPts val="500"/>
              </a:spcAft>
              <a:buNone/>
            </a:pPr>
            <a:r>
              <a:rPr lang="en-US" sz="1100" dirty="0">
                <a:solidFill>
                  <a:srgbClr val="5B675F"/>
                </a:solidFill>
                <a:latin typeface="Courier New" pitchFamily="34" charset="0"/>
                <a:ea typeface="Courier New" pitchFamily="34" charset="-122"/>
                <a:cs typeface="Courier New" pitchFamily="34" charset="-120"/>
              </a:rPr>
              <a:t>flood_final_FINAL2.jpg</a:t>
            </a:r>
            <a:endParaRPr lang="en-US" sz="1100" dirty="0"/>
          </a:p>
          <a:p>
            <a:pPr indent="0" marL="0">
              <a:spcAft>
                <a:spcPts val="500"/>
              </a:spcAft>
              <a:buNone/>
            </a:pPr>
            <a:r>
              <a:rPr lang="en-US" sz="1100" dirty="0">
                <a:solidFill>
                  <a:srgbClr val="5B675F"/>
                </a:solidFill>
                <a:latin typeface="Courier New" pitchFamily="34" charset="0"/>
                <a:ea typeface="Courier New" pitchFamily="34" charset="-122"/>
                <a:cs typeface="Courier New" pitchFamily="34" charset="-120"/>
              </a:rPr>
              <a:t>DSC00981.JPG</a:t>
            </a:r>
            <a:endParaRPr lang="en-US" sz="1100" dirty="0"/>
          </a:p>
          <a:p>
            <a:pPr indent="0" marL="0">
              <a:spcAft>
                <a:spcPts val="500"/>
              </a:spcAft>
              <a:buNone/>
            </a:pPr>
            <a:r>
              <a:rPr lang="en-US" sz="1100" dirty="0">
                <a:solidFill>
                  <a:srgbClr val="5B675F"/>
                </a:solidFill>
                <a:latin typeface="Courier New" pitchFamily="34" charset="0"/>
                <a:ea typeface="Courier New" pitchFamily="34" charset="-122"/>
                <a:cs typeface="Courier New" pitchFamily="34" charset="-120"/>
              </a:rPr>
              <a:t>Screenshot 2023-12-05.png</a:t>
            </a:r>
            <a:endParaRPr lang="en-US" sz="1100" dirty="0"/>
          </a:p>
          <a:p>
            <a:pPr indent="0" marL="0">
              <a:spcAft>
                <a:spcPts val="500"/>
              </a:spcAft>
              <a:buNone/>
            </a:pPr>
            <a:r>
              <a:rPr lang="en-US" sz="1100" dirty="0">
                <a:solidFill>
                  <a:srgbClr val="5B675F"/>
                </a:solidFill>
                <a:latin typeface="Courier New" pitchFamily="34" charset="0"/>
                <a:ea typeface="Courier New" pitchFamily="34" charset="-122"/>
                <a:cs typeface="Courier New" pitchFamily="34" charset="-120"/>
              </a:rPr>
              <a:t>new folder (7)/IMG_2044.jpg</a:t>
            </a:r>
            <a:endParaRPr lang="en-US" sz="1100" dirty="0"/>
          </a:p>
          <a:p>
            <a:pPr indent="0" marL="0">
              <a:spcAft>
                <a:spcPts val="500"/>
              </a:spcAft>
              <a:buNone/>
            </a:pPr>
            <a:r>
              <a:rPr lang="en-US" sz="1100" dirty="0">
                <a:solidFill>
                  <a:srgbClr val="5B675F"/>
                </a:solidFill>
                <a:latin typeface="Courier New" pitchFamily="34" charset="0"/>
                <a:ea typeface="Courier New" pitchFamily="34" charset="-122"/>
                <a:cs typeface="Courier New" pitchFamily="34" charset="-120"/>
              </a:rPr>
              <a:t>boat??.jpg</a:t>
            </a:r>
            <a:endParaRPr lang="en-US" sz="1100" dirty="0"/>
          </a:p>
        </p:txBody>
      </p:sp>
      <p:sp>
        <p:nvSpPr>
          <p:cNvPr id="7" name="Shape 5"/>
          <p:cNvSpPr/>
          <p:nvPr/>
        </p:nvSpPr>
        <p:spPr>
          <a:xfrm>
            <a:off x="457200" y="3977640"/>
            <a:ext cx="8229600" cy="548640"/>
          </a:xfrm>
          <a:prstGeom prst="roundRect">
            <a:avLst>
              <a:gd name="adj" fmla="val 13333"/>
            </a:avLst>
          </a:prstGeom>
          <a:solidFill>
            <a:srgbClr val="0F5B45"/>
          </a:solidFill>
          <a:ln w="12700">
            <a:solidFill>
              <a:srgbClr val="0F5B45"/>
            </a:solidFill>
            <a:prstDash val="solid"/>
          </a:ln>
        </p:spPr>
      </p:sp>
      <p:sp>
        <p:nvSpPr>
          <p:cNvPr id="8" name="Text 6"/>
          <p:cNvSpPr txBox="1"/>
          <p:nvPr/>
        </p:nvSpPr>
        <p:spPr>
          <a:xfrm>
            <a:off x="685800" y="3977640"/>
            <a:ext cx="7772400" cy="5486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Chennai flooded in 2015 and again in 2023. The proof was scattered across phones.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12201A"/>
                </a:solidFill>
                <a:latin typeface="Calibri" pitchFamily="34" charset="0"/>
                <a:ea typeface="Calibri" pitchFamily="34" charset="-122"/>
                <a:cs typeface="Calibri" pitchFamily="34" charset="-120"/>
              </a:rPr>
              <a:t>What we built</a:t>
            </a:r>
            <a:endParaRPr lang="en-US" sz="3000" dirty="0"/>
          </a:p>
        </p:txBody>
      </p:sp>
      <p:sp>
        <p:nvSpPr>
          <p:cNvPr id="3" name="Text 1"/>
          <p:cNvSpPr txBox="1"/>
          <p:nvPr/>
        </p:nvSpPr>
        <p:spPr>
          <a:xfrm>
            <a:off x="457200" y="1005840"/>
            <a:ext cx="8229600" cy="457200"/>
          </a:xfrm>
          <a:prstGeom prst="rect">
            <a:avLst/>
          </a:prstGeom>
          <a:noFill/>
          <a:ln/>
        </p:spPr>
        <p:txBody>
          <a:bodyPr wrap="square" lIns="0" tIns="0" rIns="0" bIns="0" rtlCol="0" anchor="ctr"/>
          <a:lstStyle/>
          <a:p>
            <a:pPr indent="0" marL="0">
              <a:buNone/>
            </a:pPr>
            <a:r>
              <a:rPr lang="en-US" sz="1800" dirty="0">
                <a:solidFill>
                  <a:srgbClr val="5B675F"/>
                </a:solidFill>
                <a:latin typeface="Calibri" pitchFamily="34" charset="0"/>
                <a:ea typeface="Calibri" pitchFamily="34" charset="-122"/>
                <a:cs typeface="Calibri" pitchFamily="34" charset="-120"/>
              </a:rPr>
              <a:t>Atlas turns field photos into organised, searchable evidence.</a:t>
            </a:r>
            <a:endParaRPr lang="en-US" sz="1800" dirty="0"/>
          </a:p>
        </p:txBody>
      </p:sp>
      <p:sp>
        <p:nvSpPr>
          <p:cNvPr id="4" name="Shape 2"/>
          <p:cNvSpPr/>
          <p:nvPr/>
        </p:nvSpPr>
        <p:spPr>
          <a:xfrm>
            <a:off x="457200" y="1691640"/>
            <a:ext cx="548640" cy="548640"/>
          </a:xfrm>
          <a:prstGeom prst="ellipse">
            <a:avLst/>
          </a:prstGeom>
          <a:solidFill>
            <a:srgbClr val="0F5B45"/>
          </a:solidFill>
          <a:ln w="12700">
            <a:solidFill>
              <a:srgbClr val="0F5B45"/>
            </a:solidFill>
            <a:prstDash val="solid"/>
          </a:ln>
        </p:spPr>
      </p:sp>
      <p:pic>
        <p:nvPicPr>
          <p:cNvPr id="5" name="Image 0" descr="preencoded.png">    </p:cNvPr>
          <p:cNvPicPr>
            <a:picLocks noChangeAspect="1"/>
          </p:cNvPicPr>
          <p:nvPr/>
        </p:nvPicPr>
        <p:blipFill>
          <a:blip r:embed="rId1"/>
          <a:stretch>
            <a:fillRect/>
          </a:stretch>
        </p:blipFill>
        <p:spPr>
          <a:xfrm>
            <a:off x="605333" y="1839773"/>
            <a:ext cx="252374" cy="252374"/>
          </a:xfrm>
          <a:prstGeom prst="rect">
            <a:avLst/>
          </a:prstGeom>
        </p:spPr>
      </p:pic>
      <p:sp>
        <p:nvSpPr>
          <p:cNvPr id="6" name="Text 3"/>
          <p:cNvSpPr txBox="1"/>
          <p:nvPr/>
        </p:nvSpPr>
        <p:spPr>
          <a:xfrm>
            <a:off x="1234440" y="1691640"/>
            <a:ext cx="1737360" cy="548640"/>
          </a:xfrm>
          <a:prstGeom prst="rect">
            <a:avLst/>
          </a:prstGeom>
          <a:noFill/>
          <a:ln/>
        </p:spPr>
        <p:txBody>
          <a:bodyPr wrap="square" lIns="0" tIns="0" rIns="0" bIns="0" rtlCol="0" anchor="ctr"/>
          <a:lstStyle/>
          <a:p>
            <a:pPr indent="0" marL="0">
              <a:buNone/>
            </a:pPr>
            <a:r>
              <a:rPr lang="en-US" sz="2000" b="1" dirty="0">
                <a:solidFill>
                  <a:srgbClr val="0F5B45"/>
                </a:solidFill>
                <a:latin typeface="Calibri" pitchFamily="34" charset="0"/>
                <a:ea typeface="Calibri" pitchFamily="34" charset="-122"/>
                <a:cs typeface="Calibri" pitchFamily="34" charset="-120"/>
              </a:rPr>
              <a:t>It reads</a:t>
            </a:r>
            <a:endParaRPr lang="en-US" sz="2000" dirty="0"/>
          </a:p>
        </p:txBody>
      </p:sp>
      <p:sp>
        <p:nvSpPr>
          <p:cNvPr id="7" name="Text 4"/>
          <p:cNvSpPr txBox="1"/>
          <p:nvPr/>
        </p:nvSpPr>
        <p:spPr>
          <a:xfrm>
            <a:off x="2926080" y="1691640"/>
            <a:ext cx="5760720" cy="548640"/>
          </a:xfrm>
          <a:prstGeom prst="rect">
            <a:avLst/>
          </a:prstGeom>
          <a:noFill/>
          <a:ln/>
        </p:spPr>
        <p:txBody>
          <a:bodyPr wrap="square" lIns="0" tIns="0" rIns="0" bIns="0" rtlCol="0" anchor="ctr"/>
          <a:lstStyle/>
          <a:p>
            <a:pPr indent="0" marL="0">
              <a:buNone/>
            </a:pPr>
            <a:r>
              <a:rPr lang="en-US" sz="1700" dirty="0">
                <a:solidFill>
                  <a:srgbClr val="12201A"/>
                </a:solidFill>
                <a:latin typeface="Calibri" pitchFamily="34" charset="0"/>
                <a:ea typeface="Calibri" pitchFamily="34" charset="-122"/>
                <a:cs typeface="Calibri" pitchFamily="34" charset="-120"/>
              </a:rPr>
              <a:t>AI reads every photo and writes a caption, tags and a severity rating</a:t>
            </a:r>
            <a:endParaRPr lang="en-US" sz="1700" dirty="0"/>
          </a:p>
        </p:txBody>
      </p:sp>
      <p:sp>
        <p:nvSpPr>
          <p:cNvPr id="8" name="Shape 5"/>
          <p:cNvSpPr/>
          <p:nvPr/>
        </p:nvSpPr>
        <p:spPr>
          <a:xfrm>
            <a:off x="457200" y="2468880"/>
            <a:ext cx="548640" cy="548640"/>
          </a:xfrm>
          <a:prstGeom prst="ellipse">
            <a:avLst/>
          </a:prstGeom>
          <a:solidFill>
            <a:srgbClr val="0F5B45"/>
          </a:solidFill>
          <a:ln w="12700">
            <a:solidFill>
              <a:srgbClr val="0F5B45"/>
            </a:solidFill>
            <a:prstDash val="solid"/>
          </a:ln>
        </p:spPr>
      </p:sp>
      <p:pic>
        <p:nvPicPr>
          <p:cNvPr id="9" name="Image 1" descr="preencoded.png">    </p:cNvPr>
          <p:cNvPicPr>
            <a:picLocks noChangeAspect="1"/>
          </p:cNvPicPr>
          <p:nvPr/>
        </p:nvPicPr>
        <p:blipFill>
          <a:blip r:embed="rId2"/>
          <a:stretch>
            <a:fillRect/>
          </a:stretch>
        </p:blipFill>
        <p:spPr>
          <a:xfrm>
            <a:off x="605333" y="2617013"/>
            <a:ext cx="252374" cy="252374"/>
          </a:xfrm>
          <a:prstGeom prst="rect">
            <a:avLst/>
          </a:prstGeom>
        </p:spPr>
      </p:pic>
      <p:sp>
        <p:nvSpPr>
          <p:cNvPr id="10" name="Text 6"/>
          <p:cNvSpPr txBox="1"/>
          <p:nvPr/>
        </p:nvSpPr>
        <p:spPr>
          <a:xfrm>
            <a:off x="1234440" y="2468880"/>
            <a:ext cx="1737360" cy="548640"/>
          </a:xfrm>
          <a:prstGeom prst="rect">
            <a:avLst/>
          </a:prstGeom>
          <a:noFill/>
          <a:ln/>
        </p:spPr>
        <p:txBody>
          <a:bodyPr wrap="square" lIns="0" tIns="0" rIns="0" bIns="0" rtlCol="0" anchor="ctr"/>
          <a:lstStyle/>
          <a:p>
            <a:pPr indent="0" marL="0">
              <a:buNone/>
            </a:pPr>
            <a:r>
              <a:rPr lang="en-US" sz="2000" b="1" dirty="0">
                <a:solidFill>
                  <a:srgbClr val="0F5B45"/>
                </a:solidFill>
                <a:latin typeface="Calibri" pitchFamily="34" charset="0"/>
                <a:ea typeface="Calibri" pitchFamily="34" charset="-122"/>
                <a:cs typeface="Calibri" pitchFamily="34" charset="-120"/>
              </a:rPr>
              <a:t>It organises</a:t>
            </a:r>
            <a:endParaRPr lang="en-US" sz="2000" dirty="0"/>
          </a:p>
        </p:txBody>
      </p:sp>
      <p:sp>
        <p:nvSpPr>
          <p:cNvPr id="11" name="Text 7"/>
          <p:cNvSpPr txBox="1"/>
          <p:nvPr/>
        </p:nvSpPr>
        <p:spPr>
          <a:xfrm>
            <a:off x="2926080" y="2468880"/>
            <a:ext cx="5760720" cy="548640"/>
          </a:xfrm>
          <a:prstGeom prst="rect">
            <a:avLst/>
          </a:prstGeom>
          <a:noFill/>
          <a:ln/>
        </p:spPr>
        <p:txBody>
          <a:bodyPr wrap="square" lIns="0" tIns="0" rIns="0" bIns="0" rtlCol="0" anchor="ctr"/>
          <a:lstStyle/>
          <a:p>
            <a:pPr indent="0" marL="0">
              <a:buNone/>
            </a:pPr>
            <a:r>
              <a:rPr lang="en-US" sz="1700" dirty="0">
                <a:solidFill>
                  <a:srgbClr val="12201A"/>
                </a:solidFill>
                <a:latin typeface="Calibri" pitchFamily="34" charset="0"/>
                <a:ea typeface="Calibri" pitchFamily="34" charset="-122"/>
                <a:cs typeface="Calibri" pitchFamily="34" charset="-120"/>
              </a:rPr>
              <a:t>Files each photo by site, phase and event, with no manual sorting</a:t>
            </a:r>
            <a:endParaRPr lang="en-US" sz="1700" dirty="0"/>
          </a:p>
        </p:txBody>
      </p:sp>
      <p:sp>
        <p:nvSpPr>
          <p:cNvPr id="12" name="Shape 8"/>
          <p:cNvSpPr/>
          <p:nvPr/>
        </p:nvSpPr>
        <p:spPr>
          <a:xfrm>
            <a:off x="457200" y="3246120"/>
            <a:ext cx="548640" cy="548640"/>
          </a:xfrm>
          <a:prstGeom prst="ellipse">
            <a:avLst/>
          </a:prstGeom>
          <a:solidFill>
            <a:srgbClr val="0F5B45"/>
          </a:solidFill>
          <a:ln w="12700">
            <a:solidFill>
              <a:srgbClr val="0F5B45"/>
            </a:solidFill>
            <a:prstDash val="solid"/>
          </a:ln>
        </p:spPr>
      </p:sp>
      <p:pic>
        <p:nvPicPr>
          <p:cNvPr id="13" name="Image 2" descr="preencoded.png">    </p:cNvPr>
          <p:cNvPicPr>
            <a:picLocks noChangeAspect="1"/>
          </p:cNvPicPr>
          <p:nvPr/>
        </p:nvPicPr>
        <p:blipFill>
          <a:blip r:embed="rId3"/>
          <a:stretch>
            <a:fillRect/>
          </a:stretch>
        </p:blipFill>
        <p:spPr>
          <a:xfrm>
            <a:off x="605333" y="3394253"/>
            <a:ext cx="252374" cy="252374"/>
          </a:xfrm>
          <a:prstGeom prst="rect">
            <a:avLst/>
          </a:prstGeom>
        </p:spPr>
      </p:pic>
      <p:sp>
        <p:nvSpPr>
          <p:cNvPr id="14" name="Text 9"/>
          <p:cNvSpPr txBox="1"/>
          <p:nvPr/>
        </p:nvSpPr>
        <p:spPr>
          <a:xfrm>
            <a:off x="1234440" y="3246120"/>
            <a:ext cx="1737360" cy="548640"/>
          </a:xfrm>
          <a:prstGeom prst="rect">
            <a:avLst/>
          </a:prstGeom>
          <a:noFill/>
          <a:ln/>
        </p:spPr>
        <p:txBody>
          <a:bodyPr wrap="square" lIns="0" tIns="0" rIns="0" bIns="0" rtlCol="0" anchor="ctr"/>
          <a:lstStyle/>
          <a:p>
            <a:pPr indent="0" marL="0">
              <a:buNone/>
            </a:pPr>
            <a:r>
              <a:rPr lang="en-US" sz="2000" b="1" dirty="0">
                <a:solidFill>
                  <a:srgbClr val="0F5B45"/>
                </a:solidFill>
                <a:latin typeface="Calibri" pitchFamily="34" charset="0"/>
                <a:ea typeface="Calibri" pitchFamily="34" charset="-122"/>
                <a:cs typeface="Calibri" pitchFamily="34" charset="-120"/>
              </a:rPr>
              <a:t>It answers</a:t>
            </a:r>
            <a:endParaRPr lang="en-US" sz="2000" dirty="0"/>
          </a:p>
        </p:txBody>
      </p:sp>
      <p:sp>
        <p:nvSpPr>
          <p:cNvPr id="15" name="Text 10"/>
          <p:cNvSpPr txBox="1"/>
          <p:nvPr/>
        </p:nvSpPr>
        <p:spPr>
          <a:xfrm>
            <a:off x="2926080" y="3246120"/>
            <a:ext cx="5760720" cy="548640"/>
          </a:xfrm>
          <a:prstGeom prst="rect">
            <a:avLst/>
          </a:prstGeom>
          <a:noFill/>
          <a:ln/>
        </p:spPr>
        <p:txBody>
          <a:bodyPr wrap="square" lIns="0" tIns="0" rIns="0" bIns="0" rtlCol="0" anchor="ctr"/>
          <a:lstStyle/>
          <a:p>
            <a:pPr indent="0" marL="0">
              <a:buNone/>
            </a:pPr>
            <a:r>
              <a:rPr lang="en-US" sz="1700" dirty="0">
                <a:solidFill>
                  <a:srgbClr val="12201A"/>
                </a:solidFill>
                <a:latin typeface="Calibri" pitchFamily="34" charset="0"/>
                <a:ea typeface="Calibri" pitchFamily="34" charset="-122"/>
                <a:cs typeface="Calibri" pitchFamily="34" charset="-120"/>
              </a:rPr>
              <a:t>Ask in plain words and get answers with the photos attached</a:t>
            </a:r>
            <a:endParaRPr lang="en-US" sz="1700" dirty="0"/>
          </a:p>
        </p:txBody>
      </p:sp>
      <p:sp>
        <p:nvSpPr>
          <p:cNvPr id="16" name="Shape 11"/>
          <p:cNvSpPr/>
          <p:nvPr/>
        </p:nvSpPr>
        <p:spPr>
          <a:xfrm>
            <a:off x="457200" y="4023360"/>
            <a:ext cx="548640" cy="548640"/>
          </a:xfrm>
          <a:prstGeom prst="ellipse">
            <a:avLst/>
          </a:prstGeom>
          <a:solidFill>
            <a:srgbClr val="0F5B45"/>
          </a:solidFill>
          <a:ln w="12700">
            <a:solidFill>
              <a:srgbClr val="0F5B45"/>
            </a:solidFill>
            <a:prstDash val="solid"/>
          </a:ln>
        </p:spPr>
      </p:sp>
      <p:pic>
        <p:nvPicPr>
          <p:cNvPr id="17" name="Image 3" descr="preencoded.png">    </p:cNvPr>
          <p:cNvPicPr>
            <a:picLocks noChangeAspect="1"/>
          </p:cNvPicPr>
          <p:nvPr/>
        </p:nvPicPr>
        <p:blipFill>
          <a:blip r:embed="rId4"/>
          <a:stretch>
            <a:fillRect/>
          </a:stretch>
        </p:blipFill>
        <p:spPr>
          <a:xfrm>
            <a:off x="605333" y="4171493"/>
            <a:ext cx="252374" cy="252374"/>
          </a:xfrm>
          <a:prstGeom prst="rect">
            <a:avLst/>
          </a:prstGeom>
        </p:spPr>
      </p:pic>
      <p:sp>
        <p:nvSpPr>
          <p:cNvPr id="18" name="Text 12"/>
          <p:cNvSpPr txBox="1"/>
          <p:nvPr/>
        </p:nvSpPr>
        <p:spPr>
          <a:xfrm>
            <a:off x="1234440" y="4023360"/>
            <a:ext cx="1737360" cy="548640"/>
          </a:xfrm>
          <a:prstGeom prst="rect">
            <a:avLst/>
          </a:prstGeom>
          <a:noFill/>
          <a:ln/>
        </p:spPr>
        <p:txBody>
          <a:bodyPr wrap="square" lIns="0" tIns="0" rIns="0" bIns="0" rtlCol="0" anchor="ctr"/>
          <a:lstStyle/>
          <a:p>
            <a:pPr indent="0" marL="0">
              <a:buNone/>
            </a:pPr>
            <a:r>
              <a:rPr lang="en-US" sz="2000" b="1" dirty="0">
                <a:solidFill>
                  <a:srgbClr val="0F5B45"/>
                </a:solidFill>
                <a:latin typeface="Calibri" pitchFamily="34" charset="0"/>
                <a:ea typeface="Calibri" pitchFamily="34" charset="-122"/>
                <a:cs typeface="Calibri" pitchFamily="34" charset="-120"/>
              </a:rPr>
              <a:t>It reports</a:t>
            </a:r>
            <a:endParaRPr lang="en-US" sz="2000" dirty="0"/>
          </a:p>
        </p:txBody>
      </p:sp>
      <p:sp>
        <p:nvSpPr>
          <p:cNvPr id="19" name="Text 13"/>
          <p:cNvSpPr txBox="1"/>
          <p:nvPr/>
        </p:nvSpPr>
        <p:spPr>
          <a:xfrm>
            <a:off x="2926080" y="4023360"/>
            <a:ext cx="5760720" cy="548640"/>
          </a:xfrm>
          <a:prstGeom prst="rect">
            <a:avLst/>
          </a:prstGeom>
          <a:noFill/>
          <a:ln/>
        </p:spPr>
        <p:txBody>
          <a:bodyPr wrap="square" lIns="0" tIns="0" rIns="0" bIns="0" rtlCol="0" anchor="ctr"/>
          <a:lstStyle/>
          <a:p>
            <a:pPr indent="0" marL="0">
              <a:buNone/>
            </a:pPr>
            <a:r>
              <a:rPr lang="en-US" sz="1700" dirty="0">
                <a:solidFill>
                  <a:srgbClr val="12201A"/>
                </a:solidFill>
                <a:latin typeface="Calibri" pitchFamily="34" charset="0"/>
                <a:ea typeface="Calibri" pitchFamily="34" charset="-122"/>
                <a:cs typeface="Calibri" pitchFamily="34" charset="-120"/>
              </a:rPr>
              <a:t>Compare before and after, build a report, send it to the right person</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12201A"/>
                </a:solidFill>
                <a:latin typeface="Calibri" pitchFamily="34" charset="0"/>
                <a:ea typeface="Calibri" pitchFamily="34" charset="-122"/>
                <a:cs typeface="Calibri" pitchFamily="34" charset="-120"/>
              </a:rPr>
              <a:t>Who uses it</a:t>
            </a:r>
            <a:endParaRPr lang="en-US" sz="3000" dirty="0"/>
          </a:p>
        </p:txBody>
      </p:sp>
      <p:sp>
        <p:nvSpPr>
          <p:cNvPr id="3" name="Shape 1"/>
          <p:cNvSpPr/>
          <p:nvPr/>
        </p:nvSpPr>
        <p:spPr>
          <a:xfrm>
            <a:off x="457200" y="1280160"/>
            <a:ext cx="2651760" cy="3017520"/>
          </a:xfrm>
          <a:prstGeom prst="roundRect">
            <a:avLst>
              <a:gd name="adj" fmla="val 3448"/>
            </a:avLst>
          </a:prstGeom>
          <a:solidFill>
            <a:srgbClr val="EEF3EF"/>
          </a:solidFill>
          <a:ln w="12700">
            <a:solidFill>
              <a:srgbClr val="D9E0DB"/>
            </a:solidFill>
            <a:prstDash val="solid"/>
          </a:ln>
        </p:spPr>
      </p:sp>
      <p:sp>
        <p:nvSpPr>
          <p:cNvPr id="4" name="Shape 2"/>
          <p:cNvSpPr/>
          <p:nvPr/>
        </p:nvSpPr>
        <p:spPr>
          <a:xfrm>
            <a:off x="731520" y="1508760"/>
            <a:ext cx="640080" cy="640080"/>
          </a:xfrm>
          <a:prstGeom prst="ellipse">
            <a:avLst/>
          </a:prstGeom>
          <a:solidFill>
            <a:srgbClr val="0F5B45"/>
          </a:solidFill>
          <a:ln w="12700">
            <a:solidFill>
              <a:srgbClr val="0F5B45"/>
            </a:solidFill>
            <a:prstDash val="solid"/>
          </a:ln>
        </p:spPr>
      </p:sp>
      <p:pic>
        <p:nvPicPr>
          <p:cNvPr id="5" name="Image 0" descr="preencoded.png">    </p:cNvPr>
          <p:cNvPicPr>
            <a:picLocks noChangeAspect="1"/>
          </p:cNvPicPr>
          <p:nvPr/>
        </p:nvPicPr>
        <p:blipFill>
          <a:blip r:embed="rId1"/>
          <a:stretch>
            <a:fillRect/>
          </a:stretch>
        </p:blipFill>
        <p:spPr>
          <a:xfrm>
            <a:off x="904342" y="1681582"/>
            <a:ext cx="294437" cy="294437"/>
          </a:xfrm>
          <a:prstGeom prst="rect">
            <a:avLst/>
          </a:prstGeom>
        </p:spPr>
      </p:pic>
      <p:sp>
        <p:nvSpPr>
          <p:cNvPr id="6" name="Text 3"/>
          <p:cNvSpPr txBox="1"/>
          <p:nvPr/>
        </p:nvSpPr>
        <p:spPr>
          <a:xfrm>
            <a:off x="731520" y="2286000"/>
            <a:ext cx="2103120" cy="411480"/>
          </a:xfrm>
          <a:prstGeom prst="rect">
            <a:avLst/>
          </a:prstGeom>
          <a:noFill/>
          <a:ln/>
        </p:spPr>
        <p:txBody>
          <a:bodyPr wrap="square" lIns="0" tIns="0" rIns="0" bIns="0" rtlCol="0" anchor="ctr"/>
          <a:lstStyle/>
          <a:p>
            <a:pPr indent="0" marL="0">
              <a:buNone/>
            </a:pPr>
            <a:r>
              <a:rPr lang="en-US" sz="2000" b="1" dirty="0">
                <a:solidFill>
                  <a:srgbClr val="12201A"/>
                </a:solidFill>
                <a:latin typeface="Calibri" pitchFamily="34" charset="0"/>
                <a:ea typeface="Calibri" pitchFamily="34" charset="-122"/>
                <a:cs typeface="Calibri" pitchFamily="34" charset="-120"/>
              </a:rPr>
              <a:t>Field team</a:t>
            </a:r>
            <a:endParaRPr lang="en-US" sz="2000" dirty="0"/>
          </a:p>
        </p:txBody>
      </p:sp>
      <p:sp>
        <p:nvSpPr>
          <p:cNvPr id="7" name="Text 4"/>
          <p:cNvSpPr txBox="1"/>
          <p:nvPr/>
        </p:nvSpPr>
        <p:spPr>
          <a:xfrm>
            <a:off x="731520" y="2788920"/>
            <a:ext cx="2148840" cy="137160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rgbClr val="12201A"/>
                </a:solidFill>
                <a:latin typeface="Calibri" pitchFamily="34" charset="0"/>
                <a:ea typeface="Calibri" pitchFamily="34" charset="-122"/>
                <a:cs typeface="Calibri" pitchFamily="34" charset="-120"/>
              </a:rPr>
              <a:t>Uploads from a phone</a:t>
            </a:r>
            <a:endParaRPr lang="en-US" sz="1500" dirty="0"/>
          </a:p>
          <a:p>
            <a:pPr marL="177800" indent="-177800">
              <a:spcAft>
                <a:spcPts val="800"/>
              </a:spcAft>
              <a:buSzPct val="100000"/>
              <a:buChar char="•"/>
            </a:pPr>
            <a:r>
              <a:rPr lang="en-US" sz="1500" dirty="0">
                <a:solidFill>
                  <a:srgbClr val="12201A"/>
                </a:solidFill>
                <a:latin typeface="Calibri" pitchFamily="34" charset="0"/>
                <a:ea typeface="Calibri" pitchFamily="34" charset="-122"/>
                <a:cs typeface="Calibri" pitchFamily="34" charset="-120"/>
              </a:rPr>
              <a:t>No sorting or typing</a:t>
            </a:r>
            <a:endParaRPr lang="en-US" sz="1500" dirty="0"/>
          </a:p>
          <a:p>
            <a:pPr marL="177800" indent="-177800">
              <a:spcAft>
                <a:spcPts val="800"/>
              </a:spcAft>
              <a:buSzPct val="100000"/>
              <a:buChar char="•"/>
            </a:pPr>
            <a:r>
              <a:rPr lang="en-US" sz="1500" dirty="0">
                <a:solidFill>
                  <a:srgbClr val="12201A"/>
                </a:solidFill>
                <a:latin typeface="Calibri" pitchFamily="34" charset="0"/>
                <a:ea typeface="Calibri" pitchFamily="34" charset="-122"/>
                <a:cs typeface="Calibri" pitchFamily="34" charset="-120"/>
              </a:rPr>
              <a:t>Sees it filed in seconds</a:t>
            </a:r>
            <a:endParaRPr lang="en-US" sz="1500" dirty="0"/>
          </a:p>
        </p:txBody>
      </p:sp>
      <p:sp>
        <p:nvSpPr>
          <p:cNvPr id="8" name="Shape 5"/>
          <p:cNvSpPr/>
          <p:nvPr/>
        </p:nvSpPr>
        <p:spPr>
          <a:xfrm>
            <a:off x="3246120" y="1280160"/>
            <a:ext cx="2651760" cy="3017520"/>
          </a:xfrm>
          <a:prstGeom prst="roundRect">
            <a:avLst>
              <a:gd name="adj" fmla="val 3448"/>
            </a:avLst>
          </a:prstGeom>
          <a:solidFill>
            <a:srgbClr val="EEF3EF"/>
          </a:solidFill>
          <a:ln w="12700">
            <a:solidFill>
              <a:srgbClr val="D9E0DB"/>
            </a:solidFill>
            <a:prstDash val="solid"/>
          </a:ln>
        </p:spPr>
      </p:sp>
      <p:sp>
        <p:nvSpPr>
          <p:cNvPr id="9" name="Shape 6"/>
          <p:cNvSpPr/>
          <p:nvPr/>
        </p:nvSpPr>
        <p:spPr>
          <a:xfrm>
            <a:off x="3520440" y="1508760"/>
            <a:ext cx="640080" cy="640080"/>
          </a:xfrm>
          <a:prstGeom prst="ellipse">
            <a:avLst/>
          </a:prstGeom>
          <a:solidFill>
            <a:srgbClr val="0F5B45"/>
          </a:solidFill>
          <a:ln w="12700">
            <a:solidFill>
              <a:srgbClr val="0F5B45"/>
            </a:solidFill>
            <a:prstDash val="solid"/>
          </a:ln>
        </p:spPr>
      </p:sp>
      <p:pic>
        <p:nvPicPr>
          <p:cNvPr id="10" name="Image 1" descr="preencoded.png">    </p:cNvPr>
          <p:cNvPicPr>
            <a:picLocks noChangeAspect="1"/>
          </p:cNvPicPr>
          <p:nvPr/>
        </p:nvPicPr>
        <p:blipFill>
          <a:blip r:embed="rId2"/>
          <a:stretch>
            <a:fillRect/>
          </a:stretch>
        </p:blipFill>
        <p:spPr>
          <a:xfrm>
            <a:off x="3693262" y="1681582"/>
            <a:ext cx="294437" cy="294437"/>
          </a:xfrm>
          <a:prstGeom prst="rect">
            <a:avLst/>
          </a:prstGeom>
        </p:spPr>
      </p:pic>
      <p:sp>
        <p:nvSpPr>
          <p:cNvPr id="11" name="Text 7"/>
          <p:cNvSpPr txBox="1"/>
          <p:nvPr/>
        </p:nvSpPr>
        <p:spPr>
          <a:xfrm>
            <a:off x="3520440" y="2286000"/>
            <a:ext cx="2103120" cy="411480"/>
          </a:xfrm>
          <a:prstGeom prst="rect">
            <a:avLst/>
          </a:prstGeom>
          <a:noFill/>
          <a:ln/>
        </p:spPr>
        <p:txBody>
          <a:bodyPr wrap="square" lIns="0" tIns="0" rIns="0" bIns="0" rtlCol="0" anchor="ctr"/>
          <a:lstStyle/>
          <a:p>
            <a:pPr indent="0" marL="0">
              <a:buNone/>
            </a:pPr>
            <a:r>
              <a:rPr lang="en-US" sz="2000" b="1" dirty="0">
                <a:solidFill>
                  <a:srgbClr val="12201A"/>
                </a:solidFill>
                <a:latin typeface="Calibri" pitchFamily="34" charset="0"/>
                <a:ea typeface="Calibri" pitchFamily="34" charset="-122"/>
                <a:cs typeface="Calibri" pitchFamily="34" charset="-120"/>
              </a:rPr>
              <a:t>Analyst or officer</a:t>
            </a:r>
            <a:endParaRPr lang="en-US" sz="2000" dirty="0"/>
          </a:p>
        </p:txBody>
      </p:sp>
      <p:sp>
        <p:nvSpPr>
          <p:cNvPr id="12" name="Text 8"/>
          <p:cNvSpPr txBox="1"/>
          <p:nvPr/>
        </p:nvSpPr>
        <p:spPr>
          <a:xfrm>
            <a:off x="3520440" y="2788920"/>
            <a:ext cx="2148840" cy="137160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rgbClr val="12201A"/>
                </a:solidFill>
                <a:latin typeface="Calibri" pitchFamily="34" charset="0"/>
                <a:ea typeface="Calibri" pitchFamily="34" charset="-122"/>
                <a:cs typeface="Calibri" pitchFamily="34" charset="-120"/>
              </a:rPr>
              <a:t>Finds proof fast</a:t>
            </a:r>
            <a:endParaRPr lang="en-US" sz="1500" dirty="0"/>
          </a:p>
          <a:p>
            <a:pPr marL="177800" indent="-177800">
              <a:spcAft>
                <a:spcPts val="800"/>
              </a:spcAft>
              <a:buSzPct val="100000"/>
              <a:buChar char="•"/>
            </a:pPr>
            <a:r>
              <a:rPr lang="en-US" sz="1500" dirty="0">
                <a:solidFill>
                  <a:srgbClr val="12201A"/>
                </a:solidFill>
                <a:latin typeface="Calibri" pitchFamily="34" charset="0"/>
                <a:ea typeface="Calibri" pitchFamily="34" charset="-122"/>
                <a:cs typeface="Calibri" pitchFamily="34" charset="-120"/>
              </a:rPr>
              <a:t>Asks questions in plain words</a:t>
            </a:r>
            <a:endParaRPr lang="en-US" sz="1500" dirty="0"/>
          </a:p>
          <a:p>
            <a:pPr marL="177800" indent="-177800">
              <a:spcAft>
                <a:spcPts val="800"/>
              </a:spcAft>
              <a:buSzPct val="100000"/>
              <a:buChar char="•"/>
            </a:pPr>
            <a:r>
              <a:rPr lang="en-US" sz="1500" dirty="0">
                <a:solidFill>
                  <a:srgbClr val="12201A"/>
                </a:solidFill>
                <a:latin typeface="Calibri" pitchFamily="34" charset="0"/>
                <a:ea typeface="Calibri" pitchFamily="34" charset="-122"/>
                <a:cs typeface="Calibri" pitchFamily="34" charset="-120"/>
              </a:rPr>
              <a:t>Sends a report in one click</a:t>
            </a:r>
            <a:endParaRPr lang="en-US" sz="1500" dirty="0"/>
          </a:p>
        </p:txBody>
      </p:sp>
      <p:sp>
        <p:nvSpPr>
          <p:cNvPr id="13" name="Shape 9"/>
          <p:cNvSpPr/>
          <p:nvPr/>
        </p:nvSpPr>
        <p:spPr>
          <a:xfrm>
            <a:off x="6035040" y="1280160"/>
            <a:ext cx="2651760" cy="3017520"/>
          </a:xfrm>
          <a:prstGeom prst="roundRect">
            <a:avLst>
              <a:gd name="adj" fmla="val 3448"/>
            </a:avLst>
          </a:prstGeom>
          <a:solidFill>
            <a:srgbClr val="EEF3EF"/>
          </a:solidFill>
          <a:ln w="12700">
            <a:solidFill>
              <a:srgbClr val="D9E0DB"/>
            </a:solidFill>
            <a:prstDash val="solid"/>
          </a:ln>
        </p:spPr>
      </p:sp>
      <p:sp>
        <p:nvSpPr>
          <p:cNvPr id="14" name="Shape 10"/>
          <p:cNvSpPr/>
          <p:nvPr/>
        </p:nvSpPr>
        <p:spPr>
          <a:xfrm>
            <a:off x="6309360" y="1508760"/>
            <a:ext cx="640080" cy="640080"/>
          </a:xfrm>
          <a:prstGeom prst="ellipse">
            <a:avLst/>
          </a:prstGeom>
          <a:solidFill>
            <a:srgbClr val="0F5B45"/>
          </a:solidFill>
          <a:ln w="12700">
            <a:solidFill>
              <a:srgbClr val="0F5B45"/>
            </a:solidFill>
            <a:prstDash val="solid"/>
          </a:ln>
        </p:spPr>
      </p:sp>
      <p:pic>
        <p:nvPicPr>
          <p:cNvPr id="15" name="Image 2" descr="preencoded.png">    </p:cNvPr>
          <p:cNvPicPr>
            <a:picLocks noChangeAspect="1"/>
          </p:cNvPicPr>
          <p:nvPr/>
        </p:nvPicPr>
        <p:blipFill>
          <a:blip r:embed="rId3"/>
          <a:stretch>
            <a:fillRect/>
          </a:stretch>
        </p:blipFill>
        <p:spPr>
          <a:xfrm>
            <a:off x="6482182" y="1681582"/>
            <a:ext cx="294437" cy="294437"/>
          </a:xfrm>
          <a:prstGeom prst="rect">
            <a:avLst/>
          </a:prstGeom>
        </p:spPr>
      </p:pic>
      <p:sp>
        <p:nvSpPr>
          <p:cNvPr id="16" name="Text 11"/>
          <p:cNvSpPr txBox="1"/>
          <p:nvPr/>
        </p:nvSpPr>
        <p:spPr>
          <a:xfrm>
            <a:off x="6309360" y="2286000"/>
            <a:ext cx="2103120" cy="411480"/>
          </a:xfrm>
          <a:prstGeom prst="rect">
            <a:avLst/>
          </a:prstGeom>
          <a:noFill/>
          <a:ln/>
        </p:spPr>
        <p:txBody>
          <a:bodyPr wrap="square" lIns="0" tIns="0" rIns="0" bIns="0" rtlCol="0" anchor="ctr"/>
          <a:lstStyle/>
          <a:p>
            <a:pPr indent="0" marL="0">
              <a:buNone/>
            </a:pPr>
            <a:r>
              <a:rPr lang="en-US" sz="2000" b="1" dirty="0">
                <a:solidFill>
                  <a:srgbClr val="12201A"/>
                </a:solidFill>
                <a:latin typeface="Calibri" pitchFamily="34" charset="0"/>
                <a:ea typeface="Calibri" pitchFamily="34" charset="-122"/>
                <a:cs typeface="Calibri" pitchFamily="34" charset="-120"/>
              </a:rPr>
              <a:t>Donor or judge</a:t>
            </a:r>
            <a:endParaRPr lang="en-US" sz="2000" dirty="0"/>
          </a:p>
        </p:txBody>
      </p:sp>
      <p:sp>
        <p:nvSpPr>
          <p:cNvPr id="17" name="Text 12"/>
          <p:cNvSpPr txBox="1"/>
          <p:nvPr/>
        </p:nvSpPr>
        <p:spPr>
          <a:xfrm>
            <a:off x="6309360" y="2788920"/>
            <a:ext cx="2148840" cy="137160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rgbClr val="12201A"/>
                </a:solidFill>
                <a:latin typeface="Calibri" pitchFamily="34" charset="0"/>
                <a:ea typeface="Calibri" pitchFamily="34" charset="-122"/>
                <a:cs typeface="Calibri" pitchFamily="34" charset="-120"/>
              </a:rPr>
              <a:t>Sees where and when</a:t>
            </a:r>
            <a:endParaRPr lang="en-US" sz="1500" dirty="0"/>
          </a:p>
          <a:p>
            <a:pPr marL="177800" indent="-177800">
              <a:spcAft>
                <a:spcPts val="800"/>
              </a:spcAft>
              <a:buSzPct val="100000"/>
              <a:buChar char="•"/>
            </a:pPr>
            <a:r>
              <a:rPr lang="en-US" sz="1500" dirty="0">
                <a:solidFill>
                  <a:srgbClr val="12201A"/>
                </a:solidFill>
                <a:latin typeface="Calibri" pitchFamily="34" charset="0"/>
                <a:ea typeface="Calibri" pitchFamily="34" charset="-122"/>
                <a:cs typeface="Calibri" pitchFamily="34" charset="-120"/>
              </a:rPr>
              <a:t>Sees what changed</a:t>
            </a:r>
            <a:endParaRPr lang="en-US" sz="1500" dirty="0"/>
          </a:p>
          <a:p>
            <a:pPr marL="177800" indent="-177800">
              <a:spcAft>
                <a:spcPts val="800"/>
              </a:spcAft>
              <a:buSzPct val="100000"/>
              <a:buChar char="•"/>
            </a:pPr>
            <a:r>
              <a:rPr lang="en-US" sz="1500" dirty="0">
                <a:solidFill>
                  <a:srgbClr val="12201A"/>
                </a:solidFill>
                <a:latin typeface="Calibri" pitchFamily="34" charset="0"/>
                <a:ea typeface="Calibri" pitchFamily="34" charset="-122"/>
                <a:cs typeface="Calibri" pitchFamily="34" charset="-120"/>
              </a:rPr>
              <a:t>Can trace every image to its original</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12201A"/>
                </a:solidFill>
                <a:latin typeface="Calibri" pitchFamily="34" charset="0"/>
                <a:ea typeface="Calibri" pitchFamily="34" charset="-122"/>
                <a:cs typeface="Calibri" pitchFamily="34" charset="-120"/>
              </a:rPr>
              <a:t>How it works</a:t>
            </a:r>
            <a:endParaRPr lang="en-US" sz="3000" dirty="0"/>
          </a:p>
        </p:txBody>
      </p:sp>
      <p:sp>
        <p:nvSpPr>
          <p:cNvPr id="3" name="Shape 1"/>
          <p:cNvSpPr/>
          <p:nvPr/>
        </p:nvSpPr>
        <p:spPr>
          <a:xfrm>
            <a:off x="457200" y="1463040"/>
            <a:ext cx="1417320" cy="2103120"/>
          </a:xfrm>
          <a:prstGeom prst="roundRect">
            <a:avLst>
              <a:gd name="adj" fmla="val 6452"/>
            </a:avLst>
          </a:prstGeom>
          <a:solidFill>
            <a:srgbClr val="EEF3EF"/>
          </a:solidFill>
          <a:ln w="12700">
            <a:solidFill>
              <a:srgbClr val="D9E0DB"/>
            </a:solidFill>
            <a:prstDash val="solid"/>
          </a:ln>
        </p:spPr>
      </p:sp>
      <p:sp>
        <p:nvSpPr>
          <p:cNvPr id="4" name="Shape 2"/>
          <p:cNvSpPr/>
          <p:nvPr/>
        </p:nvSpPr>
        <p:spPr>
          <a:xfrm>
            <a:off x="594360" y="1627632"/>
            <a:ext cx="384048" cy="384048"/>
          </a:xfrm>
          <a:prstGeom prst="ellipse">
            <a:avLst/>
          </a:prstGeom>
          <a:solidFill>
            <a:srgbClr val="0F5B45"/>
          </a:solidFill>
          <a:ln w="12700">
            <a:solidFill>
              <a:srgbClr val="0F5B45"/>
            </a:solidFill>
            <a:prstDash val="solid"/>
          </a:ln>
        </p:spPr>
      </p:sp>
      <p:sp>
        <p:nvSpPr>
          <p:cNvPr id="5" name="Text 3"/>
          <p:cNvSpPr txBox="1"/>
          <p:nvPr/>
        </p:nvSpPr>
        <p:spPr>
          <a:xfrm>
            <a:off x="594360" y="16276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594360" y="2148840"/>
            <a:ext cx="1188720" cy="548640"/>
          </a:xfrm>
          <a:prstGeom prst="rect">
            <a:avLst/>
          </a:prstGeom>
          <a:noFill/>
          <a:ln/>
        </p:spPr>
        <p:txBody>
          <a:bodyPr wrap="square" lIns="0" tIns="0" rIns="0" bIns="0" rtlCol="0" anchor="t"/>
          <a:lstStyle/>
          <a:p>
            <a:pPr indent="0" marL="0">
              <a:buNone/>
            </a:pPr>
            <a:r>
              <a:rPr lang="en-US" sz="1600" b="1" dirty="0">
                <a:solidFill>
                  <a:srgbClr val="12201A"/>
                </a:solidFill>
                <a:latin typeface="Calibri" pitchFamily="34" charset="0"/>
                <a:ea typeface="Calibri" pitchFamily="34" charset="-122"/>
                <a:cs typeface="Calibri" pitchFamily="34" charset="-120"/>
              </a:rPr>
              <a:t>Upload</a:t>
            </a:r>
            <a:endParaRPr lang="en-US" sz="1600" dirty="0"/>
          </a:p>
        </p:txBody>
      </p:sp>
      <p:sp>
        <p:nvSpPr>
          <p:cNvPr id="7" name="Text 5"/>
          <p:cNvSpPr txBox="1"/>
          <p:nvPr/>
        </p:nvSpPr>
        <p:spPr>
          <a:xfrm>
            <a:off x="594360" y="2743200"/>
            <a:ext cx="1188720" cy="731520"/>
          </a:xfrm>
          <a:prstGeom prst="rect">
            <a:avLst/>
          </a:prstGeom>
          <a:noFill/>
          <a:ln/>
        </p:spPr>
        <p:txBody>
          <a:bodyPr wrap="square" lIns="0" tIns="0" rIns="0" bIns="0" rtlCol="0" anchor="t"/>
          <a:lstStyle/>
          <a:p>
            <a:pPr indent="0" marL="0">
              <a:buNone/>
            </a:pPr>
            <a:r>
              <a:rPr lang="en-US" sz="1300" dirty="0">
                <a:solidFill>
                  <a:srgbClr val="5B675F"/>
                </a:solidFill>
                <a:latin typeface="Calibri" pitchFamily="34" charset="0"/>
                <a:ea typeface="Calibri" pitchFamily="34" charset="-122"/>
                <a:cs typeface="Calibri" pitchFamily="34" charset="-120"/>
              </a:rPr>
              <a:t>Straight to Cloudinary</a:t>
            </a:r>
            <a:endParaRPr lang="en-US" sz="1300" dirty="0"/>
          </a:p>
        </p:txBody>
      </p:sp>
      <p:sp>
        <p:nvSpPr>
          <p:cNvPr id="8" name="Shape 6"/>
          <p:cNvSpPr/>
          <p:nvPr/>
        </p:nvSpPr>
        <p:spPr>
          <a:xfrm>
            <a:off x="1911096" y="2423160"/>
            <a:ext cx="201168" cy="201168"/>
          </a:xfrm>
          <a:prstGeom prst="rightArrow">
            <a:avLst/>
          </a:prstGeom>
          <a:solidFill>
            <a:srgbClr val="0F5B45"/>
          </a:solidFill>
          <a:ln w="12700">
            <a:solidFill>
              <a:srgbClr val="0F5B45"/>
            </a:solidFill>
            <a:prstDash val="solid"/>
          </a:ln>
        </p:spPr>
      </p:sp>
      <p:sp>
        <p:nvSpPr>
          <p:cNvPr id="9" name="Shape 7"/>
          <p:cNvSpPr/>
          <p:nvPr/>
        </p:nvSpPr>
        <p:spPr>
          <a:xfrm>
            <a:off x="2160270" y="1463040"/>
            <a:ext cx="1417320" cy="2103120"/>
          </a:xfrm>
          <a:prstGeom prst="roundRect">
            <a:avLst>
              <a:gd name="adj" fmla="val 6452"/>
            </a:avLst>
          </a:prstGeom>
          <a:solidFill>
            <a:srgbClr val="EEF3EF"/>
          </a:solidFill>
          <a:ln w="12700">
            <a:solidFill>
              <a:srgbClr val="D9E0DB"/>
            </a:solidFill>
            <a:prstDash val="solid"/>
          </a:ln>
        </p:spPr>
      </p:sp>
      <p:sp>
        <p:nvSpPr>
          <p:cNvPr id="10" name="Shape 8"/>
          <p:cNvSpPr/>
          <p:nvPr/>
        </p:nvSpPr>
        <p:spPr>
          <a:xfrm>
            <a:off x="2297430" y="1627632"/>
            <a:ext cx="384048" cy="384048"/>
          </a:xfrm>
          <a:prstGeom prst="ellipse">
            <a:avLst/>
          </a:prstGeom>
          <a:solidFill>
            <a:srgbClr val="0F5B45"/>
          </a:solidFill>
          <a:ln w="12700">
            <a:solidFill>
              <a:srgbClr val="0F5B45"/>
            </a:solidFill>
            <a:prstDash val="solid"/>
          </a:ln>
        </p:spPr>
      </p:sp>
      <p:sp>
        <p:nvSpPr>
          <p:cNvPr id="11" name="Text 9"/>
          <p:cNvSpPr txBox="1"/>
          <p:nvPr/>
        </p:nvSpPr>
        <p:spPr>
          <a:xfrm>
            <a:off x="2297430" y="16276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2297430" y="2148840"/>
            <a:ext cx="1188720" cy="548640"/>
          </a:xfrm>
          <a:prstGeom prst="rect">
            <a:avLst/>
          </a:prstGeom>
          <a:noFill/>
          <a:ln/>
        </p:spPr>
        <p:txBody>
          <a:bodyPr wrap="square" lIns="0" tIns="0" rIns="0" bIns="0" rtlCol="0" anchor="t"/>
          <a:lstStyle/>
          <a:p>
            <a:pPr indent="0" marL="0">
              <a:buNone/>
            </a:pPr>
            <a:r>
              <a:rPr lang="en-US" sz="1600" b="1" dirty="0">
                <a:solidFill>
                  <a:srgbClr val="12201A"/>
                </a:solidFill>
                <a:latin typeface="Calibri" pitchFamily="34" charset="0"/>
                <a:ea typeface="Calibri" pitchFamily="34" charset="-122"/>
                <a:cs typeface="Calibri" pitchFamily="34" charset="-120"/>
              </a:rPr>
              <a:t>Understand</a:t>
            </a:r>
            <a:endParaRPr lang="en-US" sz="1600" dirty="0"/>
          </a:p>
        </p:txBody>
      </p:sp>
      <p:sp>
        <p:nvSpPr>
          <p:cNvPr id="13" name="Text 11"/>
          <p:cNvSpPr txBox="1"/>
          <p:nvPr/>
        </p:nvSpPr>
        <p:spPr>
          <a:xfrm>
            <a:off x="2297430" y="2743200"/>
            <a:ext cx="1188720" cy="731520"/>
          </a:xfrm>
          <a:prstGeom prst="rect">
            <a:avLst/>
          </a:prstGeom>
          <a:noFill/>
          <a:ln/>
        </p:spPr>
        <p:txBody>
          <a:bodyPr wrap="square" lIns="0" tIns="0" rIns="0" bIns="0" rtlCol="0" anchor="t"/>
          <a:lstStyle/>
          <a:p>
            <a:pPr indent="0" marL="0">
              <a:buNone/>
            </a:pPr>
            <a:r>
              <a:rPr lang="en-US" sz="1300" dirty="0">
                <a:solidFill>
                  <a:srgbClr val="5B675F"/>
                </a:solidFill>
                <a:latin typeface="Calibri" pitchFamily="34" charset="0"/>
                <a:ea typeface="Calibri" pitchFamily="34" charset="-122"/>
                <a:cs typeface="Calibri" pitchFamily="34" charset="-120"/>
              </a:rPr>
              <a:t>AI writes caption, severity, tags</a:t>
            </a:r>
            <a:endParaRPr lang="en-US" sz="1300" dirty="0"/>
          </a:p>
        </p:txBody>
      </p:sp>
      <p:sp>
        <p:nvSpPr>
          <p:cNvPr id="14" name="Shape 12"/>
          <p:cNvSpPr/>
          <p:nvPr/>
        </p:nvSpPr>
        <p:spPr>
          <a:xfrm>
            <a:off x="3614166" y="2423160"/>
            <a:ext cx="201168" cy="201168"/>
          </a:xfrm>
          <a:prstGeom prst="rightArrow">
            <a:avLst/>
          </a:prstGeom>
          <a:solidFill>
            <a:srgbClr val="0F5B45"/>
          </a:solidFill>
          <a:ln w="12700">
            <a:solidFill>
              <a:srgbClr val="0F5B45"/>
            </a:solidFill>
            <a:prstDash val="solid"/>
          </a:ln>
        </p:spPr>
      </p:sp>
      <p:sp>
        <p:nvSpPr>
          <p:cNvPr id="15" name="Shape 13"/>
          <p:cNvSpPr/>
          <p:nvPr/>
        </p:nvSpPr>
        <p:spPr>
          <a:xfrm>
            <a:off x="3863340" y="1463040"/>
            <a:ext cx="1417320" cy="2103120"/>
          </a:xfrm>
          <a:prstGeom prst="roundRect">
            <a:avLst>
              <a:gd name="adj" fmla="val 6452"/>
            </a:avLst>
          </a:prstGeom>
          <a:solidFill>
            <a:srgbClr val="EEF3EF"/>
          </a:solidFill>
          <a:ln w="12700">
            <a:solidFill>
              <a:srgbClr val="D9E0DB"/>
            </a:solidFill>
            <a:prstDash val="solid"/>
          </a:ln>
        </p:spPr>
      </p:sp>
      <p:sp>
        <p:nvSpPr>
          <p:cNvPr id="16" name="Shape 14"/>
          <p:cNvSpPr/>
          <p:nvPr/>
        </p:nvSpPr>
        <p:spPr>
          <a:xfrm>
            <a:off x="4000500" y="1627632"/>
            <a:ext cx="384048" cy="384048"/>
          </a:xfrm>
          <a:prstGeom prst="ellipse">
            <a:avLst/>
          </a:prstGeom>
          <a:solidFill>
            <a:srgbClr val="0F5B45"/>
          </a:solidFill>
          <a:ln w="12700">
            <a:solidFill>
              <a:srgbClr val="0F5B45"/>
            </a:solidFill>
            <a:prstDash val="solid"/>
          </a:ln>
        </p:spPr>
      </p:sp>
      <p:sp>
        <p:nvSpPr>
          <p:cNvPr id="17" name="Text 15"/>
          <p:cNvSpPr txBox="1"/>
          <p:nvPr/>
        </p:nvSpPr>
        <p:spPr>
          <a:xfrm>
            <a:off x="4000500" y="16276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txBox="1"/>
          <p:nvPr/>
        </p:nvSpPr>
        <p:spPr>
          <a:xfrm>
            <a:off x="4000500" y="2148840"/>
            <a:ext cx="1188720" cy="548640"/>
          </a:xfrm>
          <a:prstGeom prst="rect">
            <a:avLst/>
          </a:prstGeom>
          <a:noFill/>
          <a:ln/>
        </p:spPr>
        <p:txBody>
          <a:bodyPr wrap="square" lIns="0" tIns="0" rIns="0" bIns="0" rtlCol="0" anchor="t"/>
          <a:lstStyle/>
          <a:p>
            <a:pPr indent="0" marL="0">
              <a:buNone/>
            </a:pPr>
            <a:r>
              <a:rPr lang="en-US" sz="1600" b="1" dirty="0">
                <a:solidFill>
                  <a:srgbClr val="12201A"/>
                </a:solidFill>
                <a:latin typeface="Calibri" pitchFamily="34" charset="0"/>
                <a:ea typeface="Calibri" pitchFamily="34" charset="-122"/>
                <a:cs typeface="Calibri" pitchFamily="34" charset="-120"/>
              </a:rPr>
              <a:t>Organise</a:t>
            </a:r>
            <a:endParaRPr lang="en-US" sz="1600" dirty="0"/>
          </a:p>
        </p:txBody>
      </p:sp>
      <p:sp>
        <p:nvSpPr>
          <p:cNvPr id="19" name="Text 17"/>
          <p:cNvSpPr txBox="1"/>
          <p:nvPr/>
        </p:nvSpPr>
        <p:spPr>
          <a:xfrm>
            <a:off x="4000500" y="2743200"/>
            <a:ext cx="1188720" cy="731520"/>
          </a:xfrm>
          <a:prstGeom prst="rect">
            <a:avLst/>
          </a:prstGeom>
          <a:noFill/>
          <a:ln/>
        </p:spPr>
        <p:txBody>
          <a:bodyPr wrap="square" lIns="0" tIns="0" rIns="0" bIns="0" rtlCol="0" anchor="t"/>
          <a:lstStyle/>
          <a:p>
            <a:pPr indent="0" marL="0">
              <a:buNone/>
            </a:pPr>
            <a:r>
              <a:rPr lang="en-US" sz="1300" dirty="0">
                <a:solidFill>
                  <a:srgbClr val="5B675F"/>
                </a:solidFill>
                <a:latin typeface="Calibri" pitchFamily="34" charset="0"/>
                <a:ea typeface="Calibri" pitchFamily="34" charset="-122"/>
                <a:cs typeface="Calibri" pitchFamily="34" charset="-120"/>
              </a:rPr>
              <a:t>Site, phase, event, search index</a:t>
            </a:r>
            <a:endParaRPr lang="en-US" sz="1300" dirty="0"/>
          </a:p>
        </p:txBody>
      </p:sp>
      <p:sp>
        <p:nvSpPr>
          <p:cNvPr id="20" name="Shape 18"/>
          <p:cNvSpPr/>
          <p:nvPr/>
        </p:nvSpPr>
        <p:spPr>
          <a:xfrm>
            <a:off x="5317236" y="2423160"/>
            <a:ext cx="201168" cy="201168"/>
          </a:xfrm>
          <a:prstGeom prst="rightArrow">
            <a:avLst/>
          </a:prstGeom>
          <a:solidFill>
            <a:srgbClr val="0F5B45"/>
          </a:solidFill>
          <a:ln w="12700">
            <a:solidFill>
              <a:srgbClr val="0F5B45"/>
            </a:solidFill>
            <a:prstDash val="solid"/>
          </a:ln>
        </p:spPr>
      </p:sp>
      <p:sp>
        <p:nvSpPr>
          <p:cNvPr id="21" name="Shape 19"/>
          <p:cNvSpPr/>
          <p:nvPr/>
        </p:nvSpPr>
        <p:spPr>
          <a:xfrm>
            <a:off x="5566410" y="1463040"/>
            <a:ext cx="1417320" cy="2103120"/>
          </a:xfrm>
          <a:prstGeom prst="roundRect">
            <a:avLst>
              <a:gd name="adj" fmla="val 6452"/>
            </a:avLst>
          </a:prstGeom>
          <a:solidFill>
            <a:srgbClr val="EEF3EF"/>
          </a:solidFill>
          <a:ln w="12700">
            <a:solidFill>
              <a:srgbClr val="D9E0DB"/>
            </a:solidFill>
            <a:prstDash val="solid"/>
          </a:ln>
        </p:spPr>
      </p:sp>
      <p:sp>
        <p:nvSpPr>
          <p:cNvPr id="22" name="Shape 20"/>
          <p:cNvSpPr/>
          <p:nvPr/>
        </p:nvSpPr>
        <p:spPr>
          <a:xfrm>
            <a:off x="5703570" y="1627632"/>
            <a:ext cx="384048" cy="384048"/>
          </a:xfrm>
          <a:prstGeom prst="ellipse">
            <a:avLst/>
          </a:prstGeom>
          <a:solidFill>
            <a:srgbClr val="0F5B45"/>
          </a:solidFill>
          <a:ln w="12700">
            <a:solidFill>
              <a:srgbClr val="0F5B45"/>
            </a:solidFill>
            <a:prstDash val="solid"/>
          </a:ln>
        </p:spPr>
      </p:sp>
      <p:sp>
        <p:nvSpPr>
          <p:cNvPr id="23" name="Text 21"/>
          <p:cNvSpPr txBox="1"/>
          <p:nvPr/>
        </p:nvSpPr>
        <p:spPr>
          <a:xfrm>
            <a:off x="5703570" y="16276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2"/>
          <p:cNvSpPr txBox="1"/>
          <p:nvPr/>
        </p:nvSpPr>
        <p:spPr>
          <a:xfrm>
            <a:off x="5703570" y="2148840"/>
            <a:ext cx="1188720" cy="548640"/>
          </a:xfrm>
          <a:prstGeom prst="rect">
            <a:avLst/>
          </a:prstGeom>
          <a:noFill/>
          <a:ln/>
        </p:spPr>
        <p:txBody>
          <a:bodyPr wrap="square" lIns="0" tIns="0" rIns="0" bIns="0" rtlCol="0" anchor="t"/>
          <a:lstStyle/>
          <a:p>
            <a:pPr indent="0" marL="0">
              <a:buNone/>
            </a:pPr>
            <a:r>
              <a:rPr lang="en-US" sz="1600" b="1" dirty="0">
                <a:solidFill>
                  <a:srgbClr val="12201A"/>
                </a:solidFill>
                <a:latin typeface="Calibri" pitchFamily="34" charset="0"/>
                <a:ea typeface="Calibri" pitchFamily="34" charset="-122"/>
                <a:cs typeface="Calibri" pitchFamily="34" charset="-120"/>
              </a:rPr>
              <a:t>Ask and compare</a:t>
            </a:r>
            <a:endParaRPr lang="en-US" sz="1600" dirty="0"/>
          </a:p>
        </p:txBody>
      </p:sp>
      <p:sp>
        <p:nvSpPr>
          <p:cNvPr id="25" name="Text 23"/>
          <p:cNvSpPr txBox="1"/>
          <p:nvPr/>
        </p:nvSpPr>
        <p:spPr>
          <a:xfrm>
            <a:off x="5703570" y="2743200"/>
            <a:ext cx="1188720" cy="731520"/>
          </a:xfrm>
          <a:prstGeom prst="rect">
            <a:avLst/>
          </a:prstGeom>
          <a:noFill/>
          <a:ln/>
        </p:spPr>
        <p:txBody>
          <a:bodyPr wrap="square" lIns="0" tIns="0" rIns="0" bIns="0" rtlCol="0" anchor="t"/>
          <a:lstStyle/>
          <a:p>
            <a:pPr indent="0" marL="0">
              <a:buNone/>
            </a:pPr>
            <a:r>
              <a:rPr lang="en-US" sz="1300" dirty="0">
                <a:solidFill>
                  <a:srgbClr val="5B675F"/>
                </a:solidFill>
                <a:latin typeface="Calibri" pitchFamily="34" charset="0"/>
                <a:ea typeface="Calibri" pitchFamily="34" charset="-122"/>
                <a:cs typeface="Calibri" pitchFamily="34" charset="-120"/>
              </a:rPr>
              <a:t>Plain questions, before and after</a:t>
            </a:r>
            <a:endParaRPr lang="en-US" sz="1300" dirty="0"/>
          </a:p>
        </p:txBody>
      </p:sp>
      <p:sp>
        <p:nvSpPr>
          <p:cNvPr id="26" name="Shape 24"/>
          <p:cNvSpPr/>
          <p:nvPr/>
        </p:nvSpPr>
        <p:spPr>
          <a:xfrm>
            <a:off x="7020306" y="2423160"/>
            <a:ext cx="201168" cy="201168"/>
          </a:xfrm>
          <a:prstGeom prst="rightArrow">
            <a:avLst/>
          </a:prstGeom>
          <a:solidFill>
            <a:srgbClr val="0F5B45"/>
          </a:solidFill>
          <a:ln w="12700">
            <a:solidFill>
              <a:srgbClr val="0F5B45"/>
            </a:solidFill>
            <a:prstDash val="solid"/>
          </a:ln>
        </p:spPr>
      </p:sp>
      <p:sp>
        <p:nvSpPr>
          <p:cNvPr id="27" name="Shape 25"/>
          <p:cNvSpPr/>
          <p:nvPr/>
        </p:nvSpPr>
        <p:spPr>
          <a:xfrm>
            <a:off x="7269480" y="1463040"/>
            <a:ext cx="1417320" cy="2103120"/>
          </a:xfrm>
          <a:prstGeom prst="roundRect">
            <a:avLst>
              <a:gd name="adj" fmla="val 6452"/>
            </a:avLst>
          </a:prstGeom>
          <a:solidFill>
            <a:srgbClr val="EEF3EF"/>
          </a:solidFill>
          <a:ln w="12700">
            <a:solidFill>
              <a:srgbClr val="D9E0DB"/>
            </a:solidFill>
            <a:prstDash val="solid"/>
          </a:ln>
        </p:spPr>
      </p:sp>
      <p:sp>
        <p:nvSpPr>
          <p:cNvPr id="28" name="Shape 26"/>
          <p:cNvSpPr/>
          <p:nvPr/>
        </p:nvSpPr>
        <p:spPr>
          <a:xfrm>
            <a:off x="7406640" y="1627632"/>
            <a:ext cx="384048" cy="384048"/>
          </a:xfrm>
          <a:prstGeom prst="ellipse">
            <a:avLst/>
          </a:prstGeom>
          <a:solidFill>
            <a:srgbClr val="0F5B45"/>
          </a:solidFill>
          <a:ln w="12700">
            <a:solidFill>
              <a:srgbClr val="0F5B45"/>
            </a:solidFill>
            <a:prstDash val="solid"/>
          </a:ln>
        </p:spPr>
      </p:sp>
      <p:sp>
        <p:nvSpPr>
          <p:cNvPr id="29" name="Text 27"/>
          <p:cNvSpPr txBox="1"/>
          <p:nvPr/>
        </p:nvSpPr>
        <p:spPr>
          <a:xfrm>
            <a:off x="7406640" y="16276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0" name="Text 28"/>
          <p:cNvSpPr txBox="1"/>
          <p:nvPr/>
        </p:nvSpPr>
        <p:spPr>
          <a:xfrm>
            <a:off x="7406640" y="2148840"/>
            <a:ext cx="1188720" cy="548640"/>
          </a:xfrm>
          <a:prstGeom prst="rect">
            <a:avLst/>
          </a:prstGeom>
          <a:noFill/>
          <a:ln/>
        </p:spPr>
        <p:txBody>
          <a:bodyPr wrap="square" lIns="0" tIns="0" rIns="0" bIns="0" rtlCol="0" anchor="t"/>
          <a:lstStyle/>
          <a:p>
            <a:pPr indent="0" marL="0">
              <a:buNone/>
            </a:pPr>
            <a:r>
              <a:rPr lang="en-US" sz="1600" b="1" dirty="0">
                <a:solidFill>
                  <a:srgbClr val="12201A"/>
                </a:solidFill>
                <a:latin typeface="Calibri" pitchFamily="34" charset="0"/>
                <a:ea typeface="Calibri" pitchFamily="34" charset="-122"/>
                <a:cs typeface="Calibri" pitchFamily="34" charset="-120"/>
              </a:rPr>
              <a:t>Report and send</a:t>
            </a:r>
            <a:endParaRPr lang="en-US" sz="1600" dirty="0"/>
          </a:p>
        </p:txBody>
      </p:sp>
      <p:sp>
        <p:nvSpPr>
          <p:cNvPr id="31" name="Text 29"/>
          <p:cNvSpPr txBox="1"/>
          <p:nvPr/>
        </p:nvSpPr>
        <p:spPr>
          <a:xfrm>
            <a:off x="7406640" y="2743200"/>
            <a:ext cx="1188720" cy="731520"/>
          </a:xfrm>
          <a:prstGeom prst="rect">
            <a:avLst/>
          </a:prstGeom>
          <a:noFill/>
          <a:ln/>
        </p:spPr>
        <p:txBody>
          <a:bodyPr wrap="square" lIns="0" tIns="0" rIns="0" bIns="0" rtlCol="0" anchor="t"/>
          <a:lstStyle/>
          <a:p>
            <a:pPr indent="0" marL="0">
              <a:buNone/>
            </a:pPr>
            <a:r>
              <a:rPr lang="en-US" sz="1300" dirty="0">
                <a:solidFill>
                  <a:srgbClr val="5B675F"/>
                </a:solidFill>
                <a:latin typeface="Calibri" pitchFamily="34" charset="0"/>
                <a:ea typeface="Calibri" pitchFamily="34" charset="-122"/>
                <a:cs typeface="Calibri" pitchFamily="34" charset="-120"/>
              </a:rPr>
              <a:t>Report, link, email, share card</a:t>
            </a:r>
            <a:endParaRPr lang="en-US" sz="1300" dirty="0"/>
          </a:p>
        </p:txBody>
      </p:sp>
      <p:sp>
        <p:nvSpPr>
          <p:cNvPr id="32" name="Text 30"/>
          <p:cNvSpPr txBox="1"/>
          <p:nvPr/>
        </p:nvSpPr>
        <p:spPr>
          <a:xfrm>
            <a:off x="457200" y="3977640"/>
            <a:ext cx="8229600" cy="365760"/>
          </a:xfrm>
          <a:prstGeom prst="rect">
            <a:avLst/>
          </a:prstGeom>
          <a:noFill/>
          <a:ln/>
        </p:spPr>
        <p:txBody>
          <a:bodyPr wrap="square" lIns="0" tIns="0" rIns="0" bIns="0" rtlCol="0" anchor="ctr"/>
          <a:lstStyle/>
          <a:p>
            <a:pPr indent="0" marL="0">
              <a:buNone/>
            </a:pPr>
            <a:r>
              <a:rPr lang="en-US" sz="1600" dirty="0">
                <a:solidFill>
                  <a:srgbClr val="12201A"/>
                </a:solidFill>
                <a:latin typeface="Calibri" pitchFamily="34" charset="0"/>
                <a:ea typeface="Calibri" pitchFamily="34" charset="-122"/>
                <a:cs typeface="Calibri" pitchFamily="34" charset="-120"/>
              </a:rPr>
              <a:t>Every step is shown on screen while it runs, so you can see what the AI did.</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12201A"/>
                </a:solidFill>
                <a:latin typeface="Calibri" pitchFamily="34" charset="0"/>
                <a:ea typeface="Calibri" pitchFamily="34" charset="-122"/>
                <a:cs typeface="Calibri" pitchFamily="34" charset="-120"/>
              </a:rPr>
              <a:t>Studio: photo to evidence on one screen</a:t>
            </a:r>
            <a:endParaRPr lang="en-US" sz="3000" dirty="0"/>
          </a:p>
        </p:txBody>
      </p:sp>
      <p:sp>
        <p:nvSpPr>
          <p:cNvPr id="3" name="Text 1"/>
          <p:cNvSpPr txBox="1"/>
          <p:nvPr/>
        </p:nvSpPr>
        <p:spPr>
          <a:xfrm>
            <a:off x="457200" y="1234440"/>
            <a:ext cx="3566160" cy="3291840"/>
          </a:xfrm>
          <a:prstGeom prst="rect">
            <a:avLst/>
          </a:prstGeom>
          <a:noFill/>
          <a:ln/>
        </p:spPr>
        <p:txBody>
          <a:bodyPr wrap="square" lIns="0" tIns="0" rIns="0" bIns="0" rtlCol="0" anchor="t"/>
          <a:lstStyle/>
          <a:p>
            <a:pPr marL="203200" indent="-203200">
              <a:spcAft>
                <a:spcPts val="1200"/>
              </a:spcAft>
              <a:buSzPct val="100000"/>
              <a:buChar char="•"/>
            </a:pPr>
            <a:r>
              <a:rPr lang="en-US" sz="1600" dirty="0">
                <a:solidFill>
                  <a:srgbClr val="12201A"/>
                </a:solidFill>
                <a:latin typeface="Calibri" pitchFamily="34" charset="0"/>
                <a:ea typeface="Calibri" pitchFamily="34" charset="-122"/>
                <a:cs typeface="Calibri" pitchFamily="34" charset="-120"/>
              </a:rPr>
              <a:t>Drop a photo or pick a sample</a:t>
            </a:r>
            <a:endParaRPr lang="en-US" sz="1600" dirty="0"/>
          </a:p>
          <a:p>
            <a:pPr marL="203200" indent="-203200">
              <a:spcAft>
                <a:spcPts val="1200"/>
              </a:spcAft>
              <a:buSzPct val="100000"/>
              <a:buChar char="•"/>
            </a:pPr>
            <a:r>
              <a:rPr lang="en-US" sz="1600" dirty="0">
                <a:solidFill>
                  <a:srgbClr val="12201A"/>
                </a:solidFill>
                <a:latin typeface="Calibri" pitchFamily="34" charset="0"/>
                <a:ea typeface="Calibri" pitchFamily="34" charset="-122"/>
                <a:cs typeface="Calibri" pitchFamily="34" charset="-120"/>
              </a:rPr>
              <a:t>Five steps run live: upload, record, understand, organise, index</a:t>
            </a:r>
            <a:endParaRPr lang="en-US" sz="1600" dirty="0"/>
          </a:p>
          <a:p>
            <a:pPr marL="203200" indent="-203200">
              <a:spcAft>
                <a:spcPts val="1200"/>
              </a:spcAft>
              <a:buSzPct val="100000"/>
              <a:buChar char="•"/>
            </a:pPr>
            <a:r>
              <a:rPr lang="en-US" sz="1600" dirty="0">
                <a:solidFill>
                  <a:srgbClr val="12201A"/>
                </a:solidFill>
                <a:latin typeface="Calibri" pitchFamily="34" charset="0"/>
                <a:ea typeface="Calibri" pitchFamily="34" charset="-122"/>
                <a:cs typeface="Calibri" pitchFamily="34" charset="-120"/>
              </a:rPr>
              <a:t>Your original sits next to the Cloudinary version, which is smaller with the same look</a:t>
            </a:r>
            <a:endParaRPr lang="en-US" sz="1600" dirty="0"/>
          </a:p>
          <a:p>
            <a:pPr marL="203200" indent="-203200">
              <a:spcAft>
                <a:spcPts val="1200"/>
              </a:spcAft>
              <a:buSzPct val="100000"/>
              <a:buChar char="•"/>
            </a:pPr>
            <a:r>
              <a:rPr lang="en-US" sz="1600" dirty="0">
                <a:solidFill>
                  <a:srgbClr val="12201A"/>
                </a:solidFill>
                <a:latin typeface="Calibri" pitchFamily="34" charset="0"/>
                <a:ea typeface="Calibri" pitchFamily="34" charset="-122"/>
                <a:cs typeface="Calibri" pitchFamily="34" charset="-120"/>
              </a:rPr>
              <a:t>Caption, severity, site and IDs fill in as each step finishes</a:t>
            </a:r>
            <a:endParaRPr lang="en-US" sz="1600" dirty="0"/>
          </a:p>
        </p:txBody>
      </p:sp>
      <p:sp>
        <p:nvSpPr>
          <p:cNvPr id="4" name="Shape 2"/>
          <p:cNvSpPr/>
          <p:nvPr/>
        </p:nvSpPr>
        <p:spPr>
          <a:xfrm>
            <a:off x="4215384" y="1152144"/>
            <a:ext cx="4507992" cy="2843784"/>
          </a:xfrm>
          <a:prstGeom prst="rect">
            <a:avLst/>
          </a:prstGeom>
          <a:solidFill>
            <a:srgbClr val="FFFFFF"/>
          </a:solidFill>
          <a:ln w="12700">
            <a:solidFill>
              <a:srgbClr val="D9E0DB"/>
            </a:solidFill>
            <a:prstDash val="solid"/>
          </a:ln>
          <a:effectLst>
            <a:outerShdw sx="100000" sy="100000" kx="0" ky="0" algn="bl" rotWithShape="0" blurRad="101600" dist="25400" dir="5400000">
              <a:srgbClr val="000000">
                <a:alpha val="12000"/>
              </a:srgbClr>
            </a:outerShdw>
          </a:effectLst>
        </p:spPr>
      </p:sp>
      <p:pic>
        <p:nvPicPr>
          <p:cNvPr id="5" name="Image 0" descr="D:\Current Projects\cloudinary-impact-atlas\docs\screenshots\02-studio.jpg">    </p:cNvPr>
          <p:cNvPicPr>
            <a:picLocks noChangeAspect="1"/>
          </p:cNvPicPr>
          <p:nvPr/>
        </p:nvPicPr>
        <p:blipFill>
          <a:blip r:embed="rId1"/>
          <a:stretch>
            <a:fillRect/>
          </a:stretch>
        </p:blipFill>
        <p:spPr>
          <a:xfrm>
            <a:off x="4251960" y="1188720"/>
            <a:ext cx="4434840" cy="2770632"/>
          </a:xfrm>
          <a:prstGeom prst="rect">
            <a:avLst/>
          </a:prstGeom>
        </p:spPr>
      </p:pic>
      <p:sp>
        <p:nvSpPr>
          <p:cNvPr id="6" name="Text 3"/>
          <p:cNvSpPr txBox="1"/>
          <p:nvPr/>
        </p:nvSpPr>
        <p:spPr>
          <a:xfrm>
            <a:off x="4251960" y="4114800"/>
            <a:ext cx="4434840" cy="365760"/>
          </a:xfrm>
          <a:prstGeom prst="rect">
            <a:avLst/>
          </a:prstGeom>
          <a:noFill/>
          <a:ln/>
        </p:spPr>
        <p:txBody>
          <a:bodyPr wrap="square" lIns="0" tIns="0" rIns="0" bIns="0" rtlCol="0" anchor="ctr"/>
          <a:lstStyle/>
          <a:p>
            <a:pPr indent="0" marL="0">
              <a:buNone/>
            </a:pPr>
            <a:r>
              <a:rPr lang="en-US" sz="1100" dirty="0">
                <a:solidFill>
                  <a:srgbClr val="5B675F"/>
                </a:solidFill>
                <a:latin typeface="Calibri" pitchFamily="34" charset="0"/>
                <a:ea typeface="Calibri" pitchFamily="34" charset="-122"/>
                <a:cs typeface="Calibri" pitchFamily="34" charset="-120"/>
              </a:rPr>
              <a:t>Real screen: a rescue photo from Cyclone Michaung, filed under Velachery.</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12201A"/>
                </a:solidFill>
                <a:latin typeface="Calibri" pitchFamily="34" charset="0"/>
                <a:ea typeface="Calibri" pitchFamily="34" charset="-122"/>
                <a:cs typeface="Calibri" pitchFamily="34" charset="-120"/>
              </a:rPr>
              <a:t>Library: it organises itself</a:t>
            </a:r>
            <a:endParaRPr lang="en-US" sz="3000" dirty="0"/>
          </a:p>
        </p:txBody>
      </p:sp>
      <p:sp>
        <p:nvSpPr>
          <p:cNvPr id="3" name="Text 1"/>
          <p:cNvSpPr txBox="1"/>
          <p:nvPr/>
        </p:nvSpPr>
        <p:spPr>
          <a:xfrm>
            <a:off x="457200" y="1234440"/>
            <a:ext cx="3566160" cy="3291840"/>
          </a:xfrm>
          <a:prstGeom prst="rect">
            <a:avLst/>
          </a:prstGeom>
          <a:noFill/>
          <a:ln/>
        </p:spPr>
        <p:txBody>
          <a:bodyPr wrap="square" lIns="0" tIns="0" rIns="0" bIns="0" rtlCol="0" anchor="t"/>
          <a:lstStyle/>
          <a:p>
            <a:pPr marL="203200" indent="-203200">
              <a:spcAft>
                <a:spcPts val="1200"/>
              </a:spcAft>
              <a:buSzPct val="100000"/>
              <a:buChar char="•"/>
            </a:pPr>
            <a:r>
              <a:rPr lang="en-US" sz="1600" dirty="0">
                <a:solidFill>
                  <a:srgbClr val="12201A"/>
                </a:solidFill>
                <a:latin typeface="Calibri" pitchFamily="34" charset="0"/>
                <a:ea typeface="Calibri" pitchFamily="34" charset="-122"/>
                <a:cs typeface="Calibri" pitchFamily="34" charset="-120"/>
              </a:rPr>
              <a:t>Groups photos by site, phase, severity and event</a:t>
            </a:r>
            <a:endParaRPr lang="en-US" sz="1600" dirty="0"/>
          </a:p>
          <a:p>
            <a:pPr marL="203200" indent="-203200">
              <a:spcAft>
                <a:spcPts val="1200"/>
              </a:spcAft>
              <a:buSzPct val="100000"/>
              <a:buChar char="•"/>
            </a:pPr>
            <a:r>
              <a:rPr lang="en-US" sz="1600" dirty="0">
                <a:solidFill>
                  <a:srgbClr val="12201A"/>
                </a:solidFill>
                <a:latin typeface="Calibri" pitchFamily="34" charset="0"/>
                <a:ea typeface="Calibri" pitchFamily="34" charset="-122"/>
                <a:cs typeface="Calibri" pitchFamily="34" charset="-120"/>
              </a:rPr>
              <a:t>The evidence map shows the whole archive at once</a:t>
            </a:r>
            <a:endParaRPr lang="en-US" sz="1600" dirty="0"/>
          </a:p>
          <a:p>
            <a:pPr marL="203200" indent="-203200">
              <a:spcAft>
                <a:spcPts val="1200"/>
              </a:spcAft>
              <a:buSzPct val="100000"/>
              <a:buChar char="•"/>
            </a:pPr>
            <a:r>
              <a:rPr lang="en-US" sz="1600" dirty="0">
                <a:solidFill>
                  <a:srgbClr val="12201A"/>
                </a:solidFill>
                <a:latin typeface="Calibri" pitchFamily="34" charset="0"/>
                <a:ea typeface="Calibri" pitchFamily="34" charset="-122"/>
                <a:cs typeface="Calibri" pitchFamily="34" charset="-120"/>
              </a:rPr>
              <a:t>Search by what is in the photo</a:t>
            </a:r>
            <a:endParaRPr lang="en-US" sz="1600" dirty="0"/>
          </a:p>
          <a:p>
            <a:pPr marL="203200" indent="-203200">
              <a:spcAft>
                <a:spcPts val="1200"/>
              </a:spcAft>
              <a:buSzPct val="100000"/>
              <a:buChar char="•"/>
            </a:pPr>
            <a:r>
              <a:rPr lang="en-US" sz="1600" dirty="0">
                <a:solidFill>
                  <a:srgbClr val="12201A"/>
                </a:solidFill>
                <a:latin typeface="Calibri" pitchFamily="34" charset="0"/>
                <a:ea typeface="Calibri" pitchFamily="34" charset="-122"/>
                <a:cs typeface="Calibri" pitchFamily="34" charset="-120"/>
              </a:rPr>
              <a:t>If the AI is unsure, it says "Needs review" and a person confirms</a:t>
            </a:r>
            <a:endParaRPr lang="en-US" sz="1600" dirty="0"/>
          </a:p>
        </p:txBody>
      </p:sp>
      <p:sp>
        <p:nvSpPr>
          <p:cNvPr id="4" name="Shape 2"/>
          <p:cNvSpPr/>
          <p:nvPr/>
        </p:nvSpPr>
        <p:spPr>
          <a:xfrm>
            <a:off x="4215384" y="1152144"/>
            <a:ext cx="4507992" cy="2843784"/>
          </a:xfrm>
          <a:prstGeom prst="rect">
            <a:avLst/>
          </a:prstGeom>
          <a:solidFill>
            <a:srgbClr val="FFFFFF"/>
          </a:solidFill>
          <a:ln w="12700">
            <a:solidFill>
              <a:srgbClr val="D9E0DB"/>
            </a:solidFill>
            <a:prstDash val="solid"/>
          </a:ln>
          <a:effectLst>
            <a:outerShdw sx="100000" sy="100000" kx="0" ky="0" algn="bl" rotWithShape="0" blurRad="101600" dist="25400" dir="5400000">
              <a:srgbClr val="000000">
                <a:alpha val="12000"/>
              </a:srgbClr>
            </a:outerShdw>
          </a:effectLst>
        </p:spPr>
      </p:sp>
      <p:pic>
        <p:nvPicPr>
          <p:cNvPr id="5" name="Image 0" descr="D:\Current Projects\cloudinary-impact-atlas\docs\screenshots\03-library-evidence-map.jpg">    </p:cNvPr>
          <p:cNvPicPr>
            <a:picLocks noChangeAspect="1"/>
          </p:cNvPicPr>
          <p:nvPr/>
        </p:nvPicPr>
        <p:blipFill>
          <a:blip r:embed="rId1"/>
          <a:stretch>
            <a:fillRect/>
          </a:stretch>
        </p:blipFill>
        <p:spPr>
          <a:xfrm>
            <a:off x="4251960" y="1188720"/>
            <a:ext cx="4434840" cy="2770632"/>
          </a:xfrm>
          <a:prstGeom prst="rect">
            <a:avLst/>
          </a:prstGeom>
        </p:spPr>
      </p:pic>
      <p:sp>
        <p:nvSpPr>
          <p:cNvPr id="6" name="Text 3"/>
          <p:cNvSpPr txBox="1"/>
          <p:nvPr/>
        </p:nvSpPr>
        <p:spPr>
          <a:xfrm>
            <a:off x="4251960" y="4114800"/>
            <a:ext cx="4434840" cy="365760"/>
          </a:xfrm>
          <a:prstGeom prst="rect">
            <a:avLst/>
          </a:prstGeom>
          <a:noFill/>
          <a:ln/>
        </p:spPr>
        <p:txBody>
          <a:bodyPr wrap="square" lIns="0" tIns="0" rIns="0" bIns="0" rtlCol="0" anchor="ctr"/>
          <a:lstStyle/>
          <a:p>
            <a:pPr indent="0" marL="0">
              <a:buNone/>
            </a:pPr>
            <a:r>
              <a:rPr lang="en-US" sz="1100" dirty="0">
                <a:solidFill>
                  <a:srgbClr val="5B675F"/>
                </a:solidFill>
                <a:latin typeface="Calibri" pitchFamily="34" charset="0"/>
                <a:ea typeface="Calibri" pitchFamily="34" charset="-122"/>
                <a:cs typeface="Calibri" pitchFamily="34" charset="-120"/>
              </a:rPr>
              <a:t>Each tile is a real group. Wider means more photos. Redder means more severe.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12201A"/>
                </a:solidFill>
                <a:latin typeface="Calibri" pitchFamily="34" charset="0"/>
                <a:ea typeface="Calibri" pitchFamily="34" charset="-122"/>
                <a:cs typeface="Calibri" pitchFamily="34" charset="-120"/>
              </a:rPr>
              <a:t>Ask: plain questions, answers with proof</a:t>
            </a:r>
            <a:endParaRPr lang="en-US" sz="3000" dirty="0"/>
          </a:p>
        </p:txBody>
      </p:sp>
      <p:sp>
        <p:nvSpPr>
          <p:cNvPr id="3" name="Text 1"/>
          <p:cNvSpPr txBox="1"/>
          <p:nvPr/>
        </p:nvSpPr>
        <p:spPr>
          <a:xfrm>
            <a:off x="457200" y="1234440"/>
            <a:ext cx="4572000" cy="3291840"/>
          </a:xfrm>
          <a:prstGeom prst="rect">
            <a:avLst/>
          </a:prstGeom>
          <a:noFill/>
          <a:ln/>
        </p:spPr>
        <p:txBody>
          <a:bodyPr wrap="square" lIns="0" tIns="0" rIns="0" bIns="0" rtlCol="0" anchor="t"/>
          <a:lstStyle/>
          <a:p>
            <a:pPr marL="203200" indent="-203200">
              <a:spcAft>
                <a:spcPts val="1400"/>
              </a:spcAft>
              <a:buSzPct val="100000"/>
              <a:buChar char="•"/>
            </a:pPr>
            <a:r>
              <a:rPr lang="en-US" sz="1700" dirty="0">
                <a:solidFill>
                  <a:srgbClr val="12201A"/>
                </a:solidFill>
                <a:latin typeface="Calibri" pitchFamily="34" charset="0"/>
                <a:ea typeface="Calibri" pitchFamily="34" charset="-122"/>
                <a:cs typeface="Calibri" pitchFamily="34" charset="-120"/>
              </a:rPr>
              <a:t>Ask a normal question</a:t>
            </a:r>
            <a:endParaRPr lang="en-US" sz="1700" dirty="0"/>
          </a:p>
          <a:p>
            <a:pPr marL="203200" indent="-203200">
              <a:spcAft>
                <a:spcPts val="1400"/>
              </a:spcAft>
              <a:buSzPct val="100000"/>
              <a:buChar char="•"/>
            </a:pPr>
            <a:r>
              <a:rPr lang="en-US" sz="1700" dirty="0">
                <a:solidFill>
                  <a:srgbClr val="12201A"/>
                </a:solidFill>
                <a:latin typeface="Calibri" pitchFamily="34" charset="0"/>
                <a:ea typeface="Calibri" pitchFamily="34" charset="-122"/>
                <a:cs typeface="Calibri" pitchFamily="34" charset="-120"/>
              </a:rPr>
              <a:t>It searches three ways: the words, the meaning, and what the picture looks like</a:t>
            </a:r>
            <a:endParaRPr lang="en-US" sz="1700" dirty="0"/>
          </a:p>
          <a:p>
            <a:pPr marL="203200" indent="-203200">
              <a:spcAft>
                <a:spcPts val="1400"/>
              </a:spcAft>
              <a:buSzPct val="100000"/>
              <a:buChar char="•"/>
            </a:pPr>
            <a:r>
              <a:rPr lang="en-US" sz="1700" dirty="0">
                <a:solidFill>
                  <a:srgbClr val="12201A"/>
                </a:solidFill>
                <a:latin typeface="Calibri" pitchFamily="34" charset="0"/>
                <a:ea typeface="Calibri" pitchFamily="34" charset="-122"/>
                <a:cs typeface="Calibri" pitchFamily="34" charset="-120"/>
              </a:rPr>
              <a:t>Every answer points to numbered photos</a:t>
            </a:r>
            <a:endParaRPr lang="en-US" sz="1700" dirty="0"/>
          </a:p>
          <a:p>
            <a:pPr marL="203200" indent="-203200">
              <a:spcAft>
                <a:spcPts val="1400"/>
              </a:spcAft>
              <a:buSzPct val="100000"/>
              <a:buChar char="•"/>
            </a:pPr>
            <a:r>
              <a:rPr lang="en-US" sz="1700" dirty="0">
                <a:solidFill>
                  <a:srgbClr val="12201A"/>
                </a:solidFill>
                <a:latin typeface="Calibri" pitchFamily="34" charset="0"/>
                <a:ea typeface="Calibri" pitchFamily="34" charset="-122"/>
                <a:cs typeface="Calibri" pitchFamily="34" charset="-120"/>
              </a:rPr>
              <a:t>It checks its own claims and flags what is not backed up</a:t>
            </a:r>
            <a:endParaRPr lang="en-US" sz="1700" dirty="0"/>
          </a:p>
        </p:txBody>
      </p:sp>
      <p:sp>
        <p:nvSpPr>
          <p:cNvPr id="4" name="Shape 2"/>
          <p:cNvSpPr/>
          <p:nvPr/>
        </p:nvSpPr>
        <p:spPr>
          <a:xfrm>
            <a:off x="5449824" y="1014984"/>
            <a:ext cx="3273552" cy="3822192"/>
          </a:xfrm>
          <a:prstGeom prst="rect">
            <a:avLst/>
          </a:prstGeom>
          <a:solidFill>
            <a:srgbClr val="FFFFFF"/>
          </a:solidFill>
          <a:ln w="12700">
            <a:solidFill>
              <a:srgbClr val="D9E0DB"/>
            </a:solidFill>
            <a:prstDash val="solid"/>
          </a:ln>
          <a:effectLst>
            <a:outerShdw sx="100000" sy="100000" kx="0" ky="0" algn="bl" rotWithShape="0" blurRad="101600" dist="25400" dir="5400000">
              <a:srgbClr val="000000">
                <a:alpha val="12000"/>
              </a:srgbClr>
            </a:outerShdw>
          </a:effectLst>
        </p:spPr>
      </p:sp>
      <p:pic>
        <p:nvPicPr>
          <p:cNvPr id="5" name="Image 0" descr="D:\Current Projects\cloudinary-impact-atlas\docs\screenshots\04-ask.jpg">    </p:cNvPr>
          <p:cNvPicPr>
            <a:picLocks noChangeAspect="1"/>
          </p:cNvPicPr>
          <p:nvPr/>
        </p:nvPicPr>
        <p:blipFill>
          <a:blip r:embed="rId1"/>
          <a:stretch>
            <a:fillRect/>
          </a:stretch>
        </p:blipFill>
        <p:spPr>
          <a:xfrm>
            <a:off x="5486400" y="1051560"/>
            <a:ext cx="3200400" cy="37490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12201A"/>
                </a:solidFill>
                <a:latin typeface="Calibri" pitchFamily="34" charset="0"/>
                <a:ea typeface="Calibri" pitchFamily="34" charset="-122"/>
                <a:cs typeface="Calibri" pitchFamily="34" charset="-120"/>
              </a:rPr>
              <a:t>Reports and alerts</a:t>
            </a:r>
            <a:endParaRPr lang="en-US" sz="3000" dirty="0"/>
          </a:p>
        </p:txBody>
      </p:sp>
      <p:sp>
        <p:nvSpPr>
          <p:cNvPr id="3" name="Text 1"/>
          <p:cNvSpPr txBox="1"/>
          <p:nvPr/>
        </p:nvSpPr>
        <p:spPr>
          <a:xfrm>
            <a:off x="457200" y="1234440"/>
            <a:ext cx="3657600" cy="3291840"/>
          </a:xfrm>
          <a:prstGeom prst="rect">
            <a:avLst/>
          </a:prstGeom>
          <a:noFill/>
          <a:ln/>
        </p:spPr>
        <p:txBody>
          <a:bodyPr wrap="square" lIns="0" tIns="0" rIns="0" bIns="0" rtlCol="0" anchor="t"/>
          <a:lstStyle/>
          <a:p>
            <a:pPr marL="203200" indent="-203200">
              <a:spcAft>
                <a:spcPts val="1000"/>
              </a:spcAft>
              <a:buSzPct val="100000"/>
              <a:buChar char="•"/>
            </a:pPr>
            <a:r>
              <a:rPr lang="en-US" sz="1600" dirty="0">
                <a:solidFill>
                  <a:srgbClr val="12201A"/>
                </a:solidFill>
                <a:latin typeface="Calibri" pitchFamily="34" charset="0"/>
                <a:ea typeface="Calibri" pitchFamily="34" charset="-122"/>
                <a:cs typeface="Calibri" pitchFamily="34" charset="-120"/>
              </a:rPr>
              <a:t>One click builds a report from any set of photos</a:t>
            </a:r>
            <a:endParaRPr lang="en-US" sz="1600" dirty="0"/>
          </a:p>
          <a:p>
            <a:pPr marL="203200" indent="-203200">
              <a:spcAft>
                <a:spcPts val="1000"/>
              </a:spcAft>
              <a:buSzPct val="100000"/>
              <a:buChar char="•"/>
            </a:pPr>
            <a:r>
              <a:rPr lang="en-US" sz="1600" dirty="0">
                <a:solidFill>
                  <a:srgbClr val="12201A"/>
                </a:solidFill>
                <a:latin typeface="Calibri" pitchFamily="34" charset="0"/>
                <a:ea typeface="Calibri" pitchFamily="34" charset="-122"/>
                <a:cs typeface="Calibri" pitchFamily="34" charset="-120"/>
              </a:rPr>
              <a:t>Photo credit and licence on every image</a:t>
            </a:r>
            <a:endParaRPr lang="en-US" sz="1600" dirty="0"/>
          </a:p>
          <a:p>
            <a:pPr marL="203200" indent="-203200">
              <a:spcAft>
                <a:spcPts val="1000"/>
              </a:spcAft>
              <a:buSzPct val="100000"/>
              <a:buChar char="•"/>
            </a:pPr>
            <a:r>
              <a:rPr lang="en-US" sz="1600" dirty="0">
                <a:solidFill>
                  <a:srgbClr val="12201A"/>
                </a:solidFill>
                <a:latin typeface="Calibri" pitchFamily="34" charset="0"/>
                <a:ea typeface="Calibri" pitchFamily="34" charset="-122"/>
                <a:cs typeface="Calibri" pitchFamily="34" charset="-120"/>
              </a:rPr>
              <a:t>Before and after slider, only for the same place</a:t>
            </a:r>
            <a:endParaRPr lang="en-US" sz="1600" dirty="0"/>
          </a:p>
          <a:p>
            <a:pPr marL="203200" indent="-203200">
              <a:spcAft>
                <a:spcPts val="1000"/>
              </a:spcAft>
              <a:buSzPct val="100000"/>
              <a:buChar char="•"/>
            </a:pPr>
            <a:r>
              <a:rPr lang="en-US" sz="1600" dirty="0">
                <a:solidFill>
                  <a:srgbClr val="12201A"/>
                </a:solidFill>
                <a:latin typeface="Calibri" pitchFamily="34" charset="0"/>
                <a:ea typeface="Calibri" pitchFamily="34" charset="-122"/>
                <a:cs typeface="Calibri" pitchFamily="34" charset="-120"/>
              </a:rPr>
              <a:t>Share by private link, email or a share card</a:t>
            </a:r>
            <a:endParaRPr lang="en-US" sz="1600" dirty="0"/>
          </a:p>
          <a:p>
            <a:pPr marL="203200" indent="-203200">
              <a:spcAft>
                <a:spcPts val="1000"/>
              </a:spcAft>
              <a:buSzPct val="100000"/>
              <a:buChar char="•"/>
            </a:pPr>
            <a:r>
              <a:rPr lang="en-US" sz="1600" dirty="0">
                <a:solidFill>
                  <a:srgbClr val="12201A"/>
                </a:solidFill>
                <a:latin typeface="Calibri" pitchFamily="34" charset="0"/>
                <a:ea typeface="Calibri" pitchFamily="34" charset="-122"/>
                <a:cs typeface="Calibri" pitchFamily="34" charset="-120"/>
              </a:rPr>
              <a:t>Print to PDF or download as Markdown</a:t>
            </a:r>
            <a:endParaRPr lang="en-US" sz="1600" dirty="0"/>
          </a:p>
        </p:txBody>
      </p:sp>
      <p:sp>
        <p:nvSpPr>
          <p:cNvPr id="4" name="Shape 2"/>
          <p:cNvSpPr/>
          <p:nvPr/>
        </p:nvSpPr>
        <p:spPr>
          <a:xfrm>
            <a:off x="4306824" y="1106424"/>
            <a:ext cx="4416552" cy="3493008"/>
          </a:xfrm>
          <a:prstGeom prst="rect">
            <a:avLst/>
          </a:prstGeom>
          <a:solidFill>
            <a:srgbClr val="FFFFFF"/>
          </a:solidFill>
          <a:ln w="12700">
            <a:solidFill>
              <a:srgbClr val="D9E0DB"/>
            </a:solidFill>
            <a:prstDash val="solid"/>
          </a:ln>
          <a:effectLst>
            <a:outerShdw sx="100000" sy="100000" kx="0" ky="0" algn="bl" rotWithShape="0" blurRad="101600" dist="25400" dir="5400000">
              <a:srgbClr val="000000">
                <a:alpha val="12000"/>
              </a:srgbClr>
            </a:outerShdw>
          </a:effectLst>
        </p:spPr>
      </p:sp>
      <p:pic>
        <p:nvPicPr>
          <p:cNvPr id="5" name="Image 0" descr="D:\Current Projects\cloudinary-impact-atlas\docs\screenshots\05-flood-risk-report.jpg">    </p:cNvPr>
          <p:cNvPicPr>
            <a:picLocks noChangeAspect="1"/>
          </p:cNvPicPr>
          <p:nvPr/>
        </p:nvPicPr>
        <p:blipFill>
          <a:blip r:embed="rId1"/>
          <a:stretch>
            <a:fillRect/>
          </a:stretch>
        </p:blipFill>
        <p:spPr>
          <a:xfrm>
            <a:off x="4343400" y="1143000"/>
            <a:ext cx="4343400" cy="341985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12201A"/>
                </a:solidFill>
                <a:latin typeface="Calibri" pitchFamily="34" charset="0"/>
                <a:ea typeface="Calibri" pitchFamily="34" charset="-122"/>
                <a:cs typeface="Calibri" pitchFamily="34" charset="-120"/>
              </a:rPr>
              <a:t>Chennai Flood-Watch: the first real use</a:t>
            </a:r>
            <a:endParaRPr lang="en-US" sz="3000" dirty="0"/>
          </a:p>
        </p:txBody>
      </p:sp>
      <p:sp>
        <p:nvSpPr>
          <p:cNvPr id="3" name="Text 1"/>
          <p:cNvSpPr txBox="1"/>
          <p:nvPr/>
        </p:nvSpPr>
        <p:spPr>
          <a:xfrm>
            <a:off x="457200" y="1234440"/>
            <a:ext cx="3840480" cy="3291840"/>
          </a:xfrm>
          <a:prstGeom prst="rect">
            <a:avLst/>
          </a:prstGeom>
          <a:noFill/>
          <a:ln/>
        </p:spPr>
        <p:txBody>
          <a:bodyPr wrap="square" lIns="0" tIns="0" rIns="0" bIns="0" rtlCol="0" anchor="t"/>
          <a:lstStyle/>
          <a:p>
            <a:pPr marL="203200" indent="-203200">
              <a:spcAft>
                <a:spcPts val="1000"/>
              </a:spcAft>
              <a:buSzPct val="100000"/>
              <a:buChar char="•"/>
            </a:pPr>
            <a:r>
              <a:rPr lang="en-US" sz="1600" dirty="0">
                <a:solidFill>
                  <a:srgbClr val="12201A"/>
                </a:solidFill>
                <a:latin typeface="Calibri" pitchFamily="34" charset="0"/>
                <a:ea typeface="Calibri" pitchFamily="34" charset="-122"/>
                <a:cs typeface="Calibri" pitchFamily="34" charset="-120"/>
              </a:rPr>
              <a:t>Atlas is a general tool. A playbook adds a place and a job</a:t>
            </a:r>
            <a:endParaRPr lang="en-US" sz="1600" dirty="0"/>
          </a:p>
          <a:p>
            <a:pPr marL="203200" indent="-203200">
              <a:spcAft>
                <a:spcPts val="1000"/>
              </a:spcAft>
              <a:buSzPct val="100000"/>
              <a:buChar char="•"/>
            </a:pPr>
            <a:r>
              <a:rPr lang="en-US" sz="1600" dirty="0">
                <a:solidFill>
                  <a:srgbClr val="12201A"/>
                </a:solidFill>
                <a:latin typeface="Calibri" pitchFamily="34" charset="0"/>
                <a:ea typeface="Calibri" pitchFamily="34" charset="-122"/>
                <a:cs typeface="Calibri" pitchFamily="34" charset="-120"/>
              </a:rPr>
              <a:t>The Chennai playbook adds live rain and river data</a:t>
            </a:r>
            <a:endParaRPr lang="en-US" sz="1600" dirty="0"/>
          </a:p>
          <a:p>
            <a:pPr marL="203200" indent="-203200">
              <a:spcAft>
                <a:spcPts val="1000"/>
              </a:spcAft>
              <a:buSzPct val="100000"/>
              <a:buChar char="•"/>
            </a:pPr>
            <a:r>
              <a:rPr lang="en-US" sz="1600" dirty="0">
                <a:solidFill>
                  <a:srgbClr val="12201A"/>
                </a:solidFill>
                <a:latin typeface="Calibri" pitchFamily="34" charset="0"/>
                <a:ea typeface="Calibri" pitchFamily="34" charset="-122"/>
                <a:cs typeface="Calibri" pitchFamily="34" charset="-120"/>
              </a:rPr>
              <a:t>A 0 to 100 risk score, with all six parts shown</a:t>
            </a:r>
            <a:endParaRPr lang="en-US" sz="1600" dirty="0"/>
          </a:p>
          <a:p>
            <a:pPr marL="203200" indent="-203200">
              <a:spcAft>
                <a:spcPts val="1000"/>
              </a:spcAft>
              <a:buSzPct val="100000"/>
              <a:buChar char="•"/>
            </a:pPr>
            <a:r>
              <a:rPr lang="en-US" sz="1600" dirty="0">
                <a:solidFill>
                  <a:srgbClr val="12201A"/>
                </a:solidFill>
                <a:latin typeface="Calibri" pitchFamily="34" charset="0"/>
                <a:ea typeface="Calibri" pitchFamily="34" charset="-122"/>
                <a:cs typeface="Calibri" pitchFamily="34" charset="-120"/>
              </a:rPr>
              <a:t>The report goes to the officer for that zone</a:t>
            </a:r>
            <a:endParaRPr lang="en-US" sz="1600" dirty="0"/>
          </a:p>
          <a:p>
            <a:pPr marL="203200" indent="-203200">
              <a:spcAft>
                <a:spcPts val="1000"/>
              </a:spcAft>
              <a:buSzPct val="100000"/>
              <a:buChar char="•"/>
            </a:pPr>
            <a:r>
              <a:rPr lang="en-US" sz="1600" dirty="0">
                <a:solidFill>
                  <a:srgbClr val="12201A"/>
                </a:solidFill>
                <a:latin typeface="Calibri" pitchFamily="34" charset="0"/>
                <a:ea typeface="Calibri" pitchFamily="34" charset="-122"/>
                <a:cs typeface="Calibri" pitchFamily="34" charset="-120"/>
              </a:rPr>
              <a:t>"Rehearse a storm" is always labelled as a simulation</a:t>
            </a:r>
            <a:endParaRPr lang="en-US" sz="1600" dirty="0"/>
          </a:p>
        </p:txBody>
      </p:sp>
      <p:sp>
        <p:nvSpPr>
          <p:cNvPr id="4" name="Shape 2"/>
          <p:cNvSpPr/>
          <p:nvPr/>
        </p:nvSpPr>
        <p:spPr>
          <a:xfrm>
            <a:off x="4398264" y="1152144"/>
            <a:ext cx="4325112" cy="2816352"/>
          </a:xfrm>
          <a:prstGeom prst="rect">
            <a:avLst/>
          </a:prstGeom>
          <a:solidFill>
            <a:srgbClr val="FFFFFF"/>
          </a:solidFill>
          <a:ln w="12700">
            <a:solidFill>
              <a:srgbClr val="D9E0DB"/>
            </a:solidFill>
            <a:prstDash val="solid"/>
          </a:ln>
          <a:effectLst>
            <a:outerShdw sx="100000" sy="100000" kx="0" ky="0" algn="bl" rotWithShape="0" blurRad="101600" dist="25400" dir="5400000">
              <a:srgbClr val="000000">
                <a:alpha val="12000"/>
              </a:srgbClr>
            </a:outerShdw>
          </a:effectLst>
        </p:spPr>
      </p:sp>
      <p:pic>
        <p:nvPicPr>
          <p:cNvPr id="5" name="Image 0" descr="D:\Current Projects\cloudinary-impact-atlas\docs\screenshots\06-workflow.jpg">    </p:cNvPr>
          <p:cNvPicPr>
            <a:picLocks noChangeAspect="1"/>
          </p:cNvPicPr>
          <p:nvPr/>
        </p:nvPicPr>
        <p:blipFill>
          <a:blip r:embed="rId1"/>
          <a:stretch>
            <a:fillRect/>
          </a:stretch>
        </p:blipFill>
        <p:spPr>
          <a:xfrm>
            <a:off x="4434840" y="1188720"/>
            <a:ext cx="4251960" cy="2743200"/>
          </a:xfrm>
          <a:prstGeom prst="rect">
            <a:avLst/>
          </a:prstGeom>
        </p:spPr>
      </p:pic>
      <p:sp>
        <p:nvSpPr>
          <p:cNvPr id="6" name="Text 3"/>
          <p:cNvSpPr txBox="1"/>
          <p:nvPr/>
        </p:nvSpPr>
        <p:spPr>
          <a:xfrm>
            <a:off x="4434840" y="4069080"/>
            <a:ext cx="4251960" cy="365760"/>
          </a:xfrm>
          <a:prstGeom prst="rect">
            <a:avLst/>
          </a:prstGeom>
          <a:noFill/>
          <a:ln/>
        </p:spPr>
        <p:txBody>
          <a:bodyPr wrap="square" lIns="0" tIns="0" rIns="0" bIns="0" rtlCol="0" anchor="ctr"/>
          <a:lstStyle/>
          <a:p>
            <a:pPr indent="0" marL="0">
              <a:buNone/>
            </a:pPr>
            <a:r>
              <a:rPr lang="en-US" sz="1100" dirty="0">
                <a:solidFill>
                  <a:srgbClr val="5B675F"/>
                </a:solidFill>
                <a:latin typeface="Calibri" pitchFamily="34" charset="0"/>
                <a:ea typeface="Calibri" pitchFamily="34" charset="-122"/>
                <a:cs typeface="Calibri" pitchFamily="34" charset="-120"/>
              </a:rPr>
              <a:t>The amber boxes are what the Chennai playbook adds to the general pipeline.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12201A"/>
                </a:solidFill>
                <a:latin typeface="Calibri" pitchFamily="34" charset="0"/>
                <a:ea typeface="Calibri" pitchFamily="34" charset="-122"/>
                <a:cs typeface="Calibri" pitchFamily="34" charset="-120"/>
              </a:rPr>
              <a:t>How we use Cloudinary</a:t>
            </a:r>
            <a:endParaRPr lang="en-US" sz="3000" dirty="0"/>
          </a:p>
        </p:txBody>
      </p:sp>
      <p:sp>
        <p:nvSpPr>
          <p:cNvPr id="3" name="Shape 1"/>
          <p:cNvSpPr/>
          <p:nvPr/>
        </p:nvSpPr>
        <p:spPr>
          <a:xfrm>
            <a:off x="457200" y="1188720"/>
            <a:ext cx="4023360" cy="960120"/>
          </a:xfrm>
          <a:prstGeom prst="roundRect">
            <a:avLst>
              <a:gd name="adj" fmla="val 7619"/>
            </a:avLst>
          </a:prstGeom>
          <a:solidFill>
            <a:srgbClr val="EEF3EF"/>
          </a:solidFill>
          <a:ln w="12700">
            <a:solidFill>
              <a:srgbClr val="D9E0DB"/>
            </a:solidFill>
            <a:prstDash val="solid"/>
          </a:ln>
        </p:spPr>
      </p:sp>
      <p:sp>
        <p:nvSpPr>
          <p:cNvPr id="4" name="Shape 2"/>
          <p:cNvSpPr/>
          <p:nvPr/>
        </p:nvSpPr>
        <p:spPr>
          <a:xfrm>
            <a:off x="640080" y="1389888"/>
            <a:ext cx="548640" cy="548640"/>
          </a:xfrm>
          <a:prstGeom prst="ellipse">
            <a:avLst/>
          </a:prstGeom>
          <a:solidFill>
            <a:srgbClr val="0F5B45"/>
          </a:solidFill>
          <a:ln w="12700">
            <a:solidFill>
              <a:srgbClr val="0F5B45"/>
            </a:solidFill>
            <a:prstDash val="solid"/>
          </a:ln>
        </p:spPr>
      </p:sp>
      <p:pic>
        <p:nvPicPr>
          <p:cNvPr id="5" name="Image 0" descr="preencoded.png">    </p:cNvPr>
          <p:cNvPicPr>
            <a:picLocks noChangeAspect="1"/>
          </p:cNvPicPr>
          <p:nvPr/>
        </p:nvPicPr>
        <p:blipFill>
          <a:blip r:embed="rId1"/>
          <a:stretch>
            <a:fillRect/>
          </a:stretch>
        </p:blipFill>
        <p:spPr>
          <a:xfrm>
            <a:off x="788213" y="1538021"/>
            <a:ext cx="252374" cy="252374"/>
          </a:xfrm>
          <a:prstGeom prst="rect">
            <a:avLst/>
          </a:prstGeom>
        </p:spPr>
      </p:pic>
      <p:sp>
        <p:nvSpPr>
          <p:cNvPr id="6" name="Text 3"/>
          <p:cNvSpPr txBox="1"/>
          <p:nvPr/>
        </p:nvSpPr>
        <p:spPr>
          <a:xfrm>
            <a:off x="1371600" y="1316736"/>
            <a:ext cx="2971800" cy="320040"/>
          </a:xfrm>
          <a:prstGeom prst="rect">
            <a:avLst/>
          </a:prstGeom>
          <a:noFill/>
          <a:ln/>
        </p:spPr>
        <p:txBody>
          <a:bodyPr wrap="square" lIns="0" tIns="0" rIns="0" bIns="0" rtlCol="0" anchor="ctr"/>
          <a:lstStyle/>
          <a:p>
            <a:pPr indent="0" marL="0">
              <a:buNone/>
            </a:pPr>
            <a:r>
              <a:rPr lang="en-US" sz="1600" b="1" dirty="0">
                <a:solidFill>
                  <a:srgbClr val="12201A"/>
                </a:solidFill>
                <a:latin typeface="Calibri" pitchFamily="34" charset="0"/>
                <a:ea typeface="Calibri" pitchFamily="34" charset="-122"/>
                <a:cs typeface="Calibri" pitchFamily="34" charset="-120"/>
              </a:rPr>
              <a:t>Signed uploads</a:t>
            </a:r>
            <a:endParaRPr lang="en-US" sz="1600" dirty="0"/>
          </a:p>
        </p:txBody>
      </p:sp>
      <p:sp>
        <p:nvSpPr>
          <p:cNvPr id="7" name="Text 4"/>
          <p:cNvSpPr txBox="1"/>
          <p:nvPr/>
        </p:nvSpPr>
        <p:spPr>
          <a:xfrm>
            <a:off x="1371600" y="1645920"/>
            <a:ext cx="2971800" cy="411480"/>
          </a:xfrm>
          <a:prstGeom prst="rect">
            <a:avLst/>
          </a:prstGeom>
          <a:noFill/>
          <a:ln/>
        </p:spPr>
        <p:txBody>
          <a:bodyPr wrap="square" lIns="0" tIns="0" rIns="0" bIns="0" rtlCol="0" anchor="t"/>
          <a:lstStyle/>
          <a:p>
            <a:pPr indent="0" marL="0">
              <a:buNone/>
            </a:pPr>
            <a:r>
              <a:rPr lang="en-US" sz="1300" dirty="0">
                <a:solidFill>
                  <a:srgbClr val="5B675F"/>
                </a:solidFill>
                <a:latin typeface="Calibri" pitchFamily="34" charset="0"/>
                <a:ea typeface="Calibri" pitchFamily="34" charset="-122"/>
                <a:cs typeface="Calibri" pitchFamily="34" charset="-120"/>
              </a:rPr>
              <a:t>The browser sends photos straight to Cloudinary</a:t>
            </a:r>
            <a:endParaRPr lang="en-US" sz="1300" dirty="0"/>
          </a:p>
        </p:txBody>
      </p:sp>
      <p:sp>
        <p:nvSpPr>
          <p:cNvPr id="8" name="Shape 5"/>
          <p:cNvSpPr/>
          <p:nvPr/>
        </p:nvSpPr>
        <p:spPr>
          <a:xfrm>
            <a:off x="4663440" y="1188720"/>
            <a:ext cx="4023360" cy="960120"/>
          </a:xfrm>
          <a:prstGeom prst="roundRect">
            <a:avLst>
              <a:gd name="adj" fmla="val 7619"/>
            </a:avLst>
          </a:prstGeom>
          <a:solidFill>
            <a:srgbClr val="EEF3EF"/>
          </a:solidFill>
          <a:ln w="12700">
            <a:solidFill>
              <a:srgbClr val="D9E0DB"/>
            </a:solidFill>
            <a:prstDash val="solid"/>
          </a:ln>
        </p:spPr>
      </p:sp>
      <p:sp>
        <p:nvSpPr>
          <p:cNvPr id="9" name="Shape 6"/>
          <p:cNvSpPr/>
          <p:nvPr/>
        </p:nvSpPr>
        <p:spPr>
          <a:xfrm>
            <a:off x="4846320" y="1389888"/>
            <a:ext cx="548640" cy="548640"/>
          </a:xfrm>
          <a:prstGeom prst="ellipse">
            <a:avLst/>
          </a:prstGeom>
          <a:solidFill>
            <a:srgbClr val="0F5B45"/>
          </a:solidFill>
          <a:ln w="12700">
            <a:solidFill>
              <a:srgbClr val="0F5B45"/>
            </a:solidFill>
            <a:prstDash val="solid"/>
          </a:ln>
        </p:spPr>
      </p:sp>
      <p:pic>
        <p:nvPicPr>
          <p:cNvPr id="10" name="Image 1" descr="preencoded.png">    </p:cNvPr>
          <p:cNvPicPr>
            <a:picLocks noChangeAspect="1"/>
          </p:cNvPicPr>
          <p:nvPr/>
        </p:nvPicPr>
        <p:blipFill>
          <a:blip r:embed="rId2"/>
          <a:stretch>
            <a:fillRect/>
          </a:stretch>
        </p:blipFill>
        <p:spPr>
          <a:xfrm>
            <a:off x="4994453" y="1538021"/>
            <a:ext cx="252374" cy="252374"/>
          </a:xfrm>
          <a:prstGeom prst="rect">
            <a:avLst/>
          </a:prstGeom>
        </p:spPr>
      </p:pic>
      <p:sp>
        <p:nvSpPr>
          <p:cNvPr id="11" name="Text 7"/>
          <p:cNvSpPr txBox="1"/>
          <p:nvPr/>
        </p:nvSpPr>
        <p:spPr>
          <a:xfrm>
            <a:off x="5577840" y="1316736"/>
            <a:ext cx="2971800" cy="320040"/>
          </a:xfrm>
          <a:prstGeom prst="rect">
            <a:avLst/>
          </a:prstGeom>
          <a:noFill/>
          <a:ln/>
        </p:spPr>
        <p:txBody>
          <a:bodyPr wrap="square" lIns="0" tIns="0" rIns="0" bIns="0" rtlCol="0" anchor="ctr"/>
          <a:lstStyle/>
          <a:p>
            <a:pPr indent="0" marL="0">
              <a:buNone/>
            </a:pPr>
            <a:r>
              <a:rPr lang="en-US" sz="1600" b="1" dirty="0">
                <a:solidFill>
                  <a:srgbClr val="12201A"/>
                </a:solidFill>
                <a:latin typeface="Calibri" pitchFamily="34" charset="0"/>
                <a:ea typeface="Calibri" pitchFamily="34" charset="-122"/>
                <a:cs typeface="Calibri" pitchFamily="34" charset="-120"/>
              </a:rPr>
              <a:t>AI Vision</a:t>
            </a:r>
            <a:endParaRPr lang="en-US" sz="1600" dirty="0"/>
          </a:p>
        </p:txBody>
      </p:sp>
      <p:sp>
        <p:nvSpPr>
          <p:cNvPr id="12" name="Text 8"/>
          <p:cNvSpPr txBox="1"/>
          <p:nvPr/>
        </p:nvSpPr>
        <p:spPr>
          <a:xfrm>
            <a:off x="5577840" y="1645920"/>
            <a:ext cx="2971800" cy="411480"/>
          </a:xfrm>
          <a:prstGeom prst="rect">
            <a:avLst/>
          </a:prstGeom>
          <a:noFill/>
          <a:ln/>
        </p:spPr>
        <p:txBody>
          <a:bodyPr wrap="square" lIns="0" tIns="0" rIns="0" bIns="0" rtlCol="0" anchor="t"/>
          <a:lstStyle/>
          <a:p>
            <a:pPr indent="0" marL="0">
              <a:buNone/>
            </a:pPr>
            <a:r>
              <a:rPr lang="en-US" sz="1300" dirty="0">
                <a:solidFill>
                  <a:srgbClr val="5B675F"/>
                </a:solidFill>
                <a:latin typeface="Calibri" pitchFamily="34" charset="0"/>
                <a:ea typeface="Calibri" pitchFamily="34" charset="-122"/>
                <a:cs typeface="Calibri" pitchFamily="34" charset="-120"/>
              </a:rPr>
              <a:t>Reads each image: caption, severity, risks</a:t>
            </a:r>
            <a:endParaRPr lang="en-US" sz="1300" dirty="0"/>
          </a:p>
        </p:txBody>
      </p:sp>
      <p:sp>
        <p:nvSpPr>
          <p:cNvPr id="13" name="Shape 9"/>
          <p:cNvSpPr/>
          <p:nvPr/>
        </p:nvSpPr>
        <p:spPr>
          <a:xfrm>
            <a:off x="457200" y="2258568"/>
            <a:ext cx="4023360" cy="960120"/>
          </a:xfrm>
          <a:prstGeom prst="roundRect">
            <a:avLst>
              <a:gd name="adj" fmla="val 7619"/>
            </a:avLst>
          </a:prstGeom>
          <a:solidFill>
            <a:srgbClr val="EEF3EF"/>
          </a:solidFill>
          <a:ln w="12700">
            <a:solidFill>
              <a:srgbClr val="D9E0DB"/>
            </a:solidFill>
            <a:prstDash val="solid"/>
          </a:ln>
        </p:spPr>
      </p:sp>
      <p:sp>
        <p:nvSpPr>
          <p:cNvPr id="14" name="Shape 10"/>
          <p:cNvSpPr/>
          <p:nvPr/>
        </p:nvSpPr>
        <p:spPr>
          <a:xfrm>
            <a:off x="640080" y="2459736"/>
            <a:ext cx="548640" cy="548640"/>
          </a:xfrm>
          <a:prstGeom prst="ellipse">
            <a:avLst/>
          </a:prstGeom>
          <a:solidFill>
            <a:srgbClr val="0F5B45"/>
          </a:solidFill>
          <a:ln w="12700">
            <a:solidFill>
              <a:srgbClr val="0F5B45"/>
            </a:solidFill>
            <a:prstDash val="solid"/>
          </a:ln>
        </p:spPr>
      </p:sp>
      <p:pic>
        <p:nvPicPr>
          <p:cNvPr id="15" name="Image 2" descr="preencoded.png">    </p:cNvPr>
          <p:cNvPicPr>
            <a:picLocks noChangeAspect="1"/>
          </p:cNvPicPr>
          <p:nvPr/>
        </p:nvPicPr>
        <p:blipFill>
          <a:blip r:embed="rId3"/>
          <a:stretch>
            <a:fillRect/>
          </a:stretch>
        </p:blipFill>
        <p:spPr>
          <a:xfrm>
            <a:off x="788213" y="2607869"/>
            <a:ext cx="252374" cy="252374"/>
          </a:xfrm>
          <a:prstGeom prst="rect">
            <a:avLst/>
          </a:prstGeom>
        </p:spPr>
      </p:pic>
      <p:sp>
        <p:nvSpPr>
          <p:cNvPr id="16" name="Text 11"/>
          <p:cNvSpPr txBox="1"/>
          <p:nvPr/>
        </p:nvSpPr>
        <p:spPr>
          <a:xfrm>
            <a:off x="1371600" y="2386584"/>
            <a:ext cx="2971800" cy="320040"/>
          </a:xfrm>
          <a:prstGeom prst="rect">
            <a:avLst/>
          </a:prstGeom>
          <a:noFill/>
          <a:ln/>
        </p:spPr>
        <p:txBody>
          <a:bodyPr wrap="square" lIns="0" tIns="0" rIns="0" bIns="0" rtlCol="0" anchor="ctr"/>
          <a:lstStyle/>
          <a:p>
            <a:pPr indent="0" marL="0">
              <a:buNone/>
            </a:pPr>
            <a:r>
              <a:rPr lang="en-US" sz="1600" b="1" dirty="0">
                <a:solidFill>
                  <a:srgbClr val="12201A"/>
                </a:solidFill>
                <a:latin typeface="Calibri" pitchFamily="34" charset="0"/>
                <a:ea typeface="Calibri" pitchFamily="34" charset="-122"/>
                <a:cs typeface="Calibri" pitchFamily="34" charset="-120"/>
              </a:rPr>
              <a:t>Smart crops</a:t>
            </a:r>
            <a:endParaRPr lang="en-US" sz="1600" dirty="0"/>
          </a:p>
        </p:txBody>
      </p:sp>
      <p:sp>
        <p:nvSpPr>
          <p:cNvPr id="17" name="Text 12"/>
          <p:cNvSpPr txBox="1"/>
          <p:nvPr/>
        </p:nvSpPr>
        <p:spPr>
          <a:xfrm>
            <a:off x="1371600" y="2715768"/>
            <a:ext cx="2971800" cy="411480"/>
          </a:xfrm>
          <a:prstGeom prst="rect">
            <a:avLst/>
          </a:prstGeom>
          <a:noFill/>
          <a:ln/>
        </p:spPr>
        <p:txBody>
          <a:bodyPr wrap="square" lIns="0" tIns="0" rIns="0" bIns="0" rtlCol="0" anchor="t"/>
          <a:lstStyle/>
          <a:p>
            <a:pPr indent="0" marL="0">
              <a:buNone/>
            </a:pPr>
            <a:r>
              <a:rPr lang="en-US" sz="1300" dirty="0">
                <a:solidFill>
                  <a:srgbClr val="5B675F"/>
                </a:solidFill>
                <a:latin typeface="Calibri" pitchFamily="34" charset="0"/>
                <a:ea typeface="Calibri" pitchFamily="34" charset="-122"/>
                <a:cs typeface="Calibri" pitchFamily="34" charset="-120"/>
              </a:rPr>
              <a:t>Thumbnails, comparisons and report images are just URLs</a:t>
            </a:r>
            <a:endParaRPr lang="en-US" sz="1300" dirty="0"/>
          </a:p>
        </p:txBody>
      </p:sp>
      <p:sp>
        <p:nvSpPr>
          <p:cNvPr id="18" name="Shape 13"/>
          <p:cNvSpPr/>
          <p:nvPr/>
        </p:nvSpPr>
        <p:spPr>
          <a:xfrm>
            <a:off x="4663440" y="2258568"/>
            <a:ext cx="4023360" cy="960120"/>
          </a:xfrm>
          <a:prstGeom prst="roundRect">
            <a:avLst>
              <a:gd name="adj" fmla="val 7619"/>
            </a:avLst>
          </a:prstGeom>
          <a:solidFill>
            <a:srgbClr val="EEF3EF"/>
          </a:solidFill>
          <a:ln w="12700">
            <a:solidFill>
              <a:srgbClr val="D9E0DB"/>
            </a:solidFill>
            <a:prstDash val="solid"/>
          </a:ln>
        </p:spPr>
      </p:sp>
      <p:sp>
        <p:nvSpPr>
          <p:cNvPr id="19" name="Shape 14"/>
          <p:cNvSpPr/>
          <p:nvPr/>
        </p:nvSpPr>
        <p:spPr>
          <a:xfrm>
            <a:off x="4846320" y="2459736"/>
            <a:ext cx="548640" cy="548640"/>
          </a:xfrm>
          <a:prstGeom prst="ellipse">
            <a:avLst/>
          </a:prstGeom>
          <a:solidFill>
            <a:srgbClr val="0F5B45"/>
          </a:solidFill>
          <a:ln w="12700">
            <a:solidFill>
              <a:srgbClr val="0F5B45"/>
            </a:solidFill>
            <a:prstDash val="solid"/>
          </a:ln>
        </p:spPr>
      </p:sp>
      <p:pic>
        <p:nvPicPr>
          <p:cNvPr id="20" name="Image 3" descr="preencoded.png">    </p:cNvPr>
          <p:cNvPicPr>
            <a:picLocks noChangeAspect="1"/>
          </p:cNvPicPr>
          <p:nvPr/>
        </p:nvPicPr>
        <p:blipFill>
          <a:blip r:embed="rId4"/>
          <a:stretch>
            <a:fillRect/>
          </a:stretch>
        </p:blipFill>
        <p:spPr>
          <a:xfrm>
            <a:off x="4994453" y="2607869"/>
            <a:ext cx="252374" cy="252374"/>
          </a:xfrm>
          <a:prstGeom prst="rect">
            <a:avLst/>
          </a:prstGeom>
        </p:spPr>
      </p:pic>
      <p:sp>
        <p:nvSpPr>
          <p:cNvPr id="21" name="Text 15"/>
          <p:cNvSpPr txBox="1"/>
          <p:nvPr/>
        </p:nvSpPr>
        <p:spPr>
          <a:xfrm>
            <a:off x="5577840" y="2386584"/>
            <a:ext cx="2971800" cy="320040"/>
          </a:xfrm>
          <a:prstGeom prst="rect">
            <a:avLst/>
          </a:prstGeom>
          <a:noFill/>
          <a:ln/>
        </p:spPr>
        <p:txBody>
          <a:bodyPr wrap="square" lIns="0" tIns="0" rIns="0" bIns="0" rtlCol="0" anchor="ctr"/>
          <a:lstStyle/>
          <a:p>
            <a:pPr indent="0" marL="0">
              <a:buNone/>
            </a:pPr>
            <a:r>
              <a:rPr lang="en-US" sz="1600" b="1" dirty="0">
                <a:solidFill>
                  <a:srgbClr val="12201A"/>
                </a:solidFill>
                <a:latin typeface="Calibri" pitchFamily="34" charset="0"/>
                <a:ea typeface="Calibri" pitchFamily="34" charset="-122"/>
                <a:cs typeface="Calibri" pitchFamily="34" charset="-120"/>
              </a:rPr>
              <a:t>Share cards</a:t>
            </a:r>
            <a:endParaRPr lang="en-US" sz="1600" dirty="0"/>
          </a:p>
        </p:txBody>
      </p:sp>
      <p:sp>
        <p:nvSpPr>
          <p:cNvPr id="22" name="Text 16"/>
          <p:cNvSpPr txBox="1"/>
          <p:nvPr/>
        </p:nvSpPr>
        <p:spPr>
          <a:xfrm>
            <a:off x="5577840" y="2715768"/>
            <a:ext cx="2971800" cy="411480"/>
          </a:xfrm>
          <a:prstGeom prst="rect">
            <a:avLst/>
          </a:prstGeom>
          <a:noFill/>
          <a:ln/>
        </p:spPr>
        <p:txBody>
          <a:bodyPr wrap="square" lIns="0" tIns="0" rIns="0" bIns="0" rtlCol="0" anchor="t"/>
          <a:lstStyle/>
          <a:p>
            <a:pPr indent="0" marL="0">
              <a:buNone/>
            </a:pPr>
            <a:r>
              <a:rPr lang="en-US" sz="1300" dirty="0">
                <a:solidFill>
                  <a:srgbClr val="5B675F"/>
                </a:solidFill>
                <a:latin typeface="Calibri" pitchFamily="34" charset="0"/>
                <a:ea typeface="Calibri" pitchFamily="34" charset="-122"/>
                <a:cs typeface="Calibri" pitchFamily="34" charset="-120"/>
              </a:rPr>
              <a:t>Text overlays build the share image</a:t>
            </a:r>
            <a:endParaRPr lang="en-US" sz="1300" dirty="0"/>
          </a:p>
        </p:txBody>
      </p:sp>
      <p:sp>
        <p:nvSpPr>
          <p:cNvPr id="23" name="Shape 17"/>
          <p:cNvSpPr/>
          <p:nvPr/>
        </p:nvSpPr>
        <p:spPr>
          <a:xfrm>
            <a:off x="457200" y="3328416"/>
            <a:ext cx="4023360" cy="960120"/>
          </a:xfrm>
          <a:prstGeom prst="roundRect">
            <a:avLst>
              <a:gd name="adj" fmla="val 7619"/>
            </a:avLst>
          </a:prstGeom>
          <a:solidFill>
            <a:srgbClr val="EEF3EF"/>
          </a:solidFill>
          <a:ln w="12700">
            <a:solidFill>
              <a:srgbClr val="D9E0DB"/>
            </a:solidFill>
            <a:prstDash val="solid"/>
          </a:ln>
        </p:spPr>
      </p:sp>
      <p:sp>
        <p:nvSpPr>
          <p:cNvPr id="24" name="Shape 18"/>
          <p:cNvSpPr/>
          <p:nvPr/>
        </p:nvSpPr>
        <p:spPr>
          <a:xfrm>
            <a:off x="640080" y="3529584"/>
            <a:ext cx="548640" cy="548640"/>
          </a:xfrm>
          <a:prstGeom prst="ellipse">
            <a:avLst/>
          </a:prstGeom>
          <a:solidFill>
            <a:srgbClr val="0F5B45"/>
          </a:solidFill>
          <a:ln w="12700">
            <a:solidFill>
              <a:srgbClr val="0F5B45"/>
            </a:solidFill>
            <a:prstDash val="solid"/>
          </a:ln>
        </p:spPr>
      </p:sp>
      <p:pic>
        <p:nvPicPr>
          <p:cNvPr id="25" name="Image 4" descr="preencoded.png">    </p:cNvPr>
          <p:cNvPicPr>
            <a:picLocks noChangeAspect="1"/>
          </p:cNvPicPr>
          <p:nvPr/>
        </p:nvPicPr>
        <p:blipFill>
          <a:blip r:embed="rId5"/>
          <a:stretch>
            <a:fillRect/>
          </a:stretch>
        </p:blipFill>
        <p:spPr>
          <a:xfrm>
            <a:off x="788213" y="3677717"/>
            <a:ext cx="252374" cy="252374"/>
          </a:xfrm>
          <a:prstGeom prst="rect">
            <a:avLst/>
          </a:prstGeom>
        </p:spPr>
      </p:pic>
      <p:sp>
        <p:nvSpPr>
          <p:cNvPr id="26" name="Text 19"/>
          <p:cNvSpPr txBox="1"/>
          <p:nvPr/>
        </p:nvSpPr>
        <p:spPr>
          <a:xfrm>
            <a:off x="1371600" y="3456432"/>
            <a:ext cx="2971800" cy="320040"/>
          </a:xfrm>
          <a:prstGeom prst="rect">
            <a:avLst/>
          </a:prstGeom>
          <a:noFill/>
          <a:ln/>
        </p:spPr>
        <p:txBody>
          <a:bodyPr wrap="square" lIns="0" tIns="0" rIns="0" bIns="0" rtlCol="0" anchor="ctr"/>
          <a:lstStyle/>
          <a:p>
            <a:pPr indent="0" marL="0">
              <a:buNone/>
            </a:pPr>
            <a:r>
              <a:rPr lang="en-US" sz="1600" b="1" dirty="0">
                <a:solidFill>
                  <a:srgbClr val="12201A"/>
                </a:solidFill>
                <a:latin typeface="Calibri" pitchFamily="34" charset="0"/>
                <a:ea typeface="Calibri" pitchFamily="34" charset="-122"/>
                <a:cs typeface="Calibri" pitchFamily="34" charset="-120"/>
              </a:rPr>
              <a:t>Tags and IDs</a:t>
            </a:r>
            <a:endParaRPr lang="en-US" sz="1600" dirty="0"/>
          </a:p>
        </p:txBody>
      </p:sp>
      <p:sp>
        <p:nvSpPr>
          <p:cNvPr id="27" name="Text 20"/>
          <p:cNvSpPr txBox="1"/>
          <p:nvPr/>
        </p:nvSpPr>
        <p:spPr>
          <a:xfrm>
            <a:off x="1371600" y="3785616"/>
            <a:ext cx="2971800" cy="411480"/>
          </a:xfrm>
          <a:prstGeom prst="rect">
            <a:avLst/>
          </a:prstGeom>
          <a:noFill/>
          <a:ln/>
        </p:spPr>
        <p:txBody>
          <a:bodyPr wrap="square" lIns="0" tIns="0" rIns="0" bIns="0" rtlCol="0" anchor="t"/>
          <a:lstStyle/>
          <a:p>
            <a:pPr indent="0" marL="0">
              <a:buNone/>
            </a:pPr>
            <a:r>
              <a:rPr lang="en-US" sz="1300" dirty="0">
                <a:solidFill>
                  <a:srgbClr val="5B675F"/>
                </a:solidFill>
                <a:latin typeface="Calibri" pitchFamily="34" charset="0"/>
                <a:ea typeface="Calibri" pitchFamily="34" charset="-122"/>
                <a:cs typeface="Calibri" pitchFamily="34" charset="-120"/>
              </a:rPr>
              <a:t>AI tags saved on the asset, originals never edited</a:t>
            </a:r>
            <a:endParaRPr lang="en-US" sz="1300" dirty="0"/>
          </a:p>
        </p:txBody>
      </p:sp>
      <p:sp>
        <p:nvSpPr>
          <p:cNvPr id="28" name="Shape 21"/>
          <p:cNvSpPr/>
          <p:nvPr/>
        </p:nvSpPr>
        <p:spPr>
          <a:xfrm>
            <a:off x="4663440" y="3328416"/>
            <a:ext cx="4023360" cy="960120"/>
          </a:xfrm>
          <a:prstGeom prst="roundRect">
            <a:avLst>
              <a:gd name="adj" fmla="val 7619"/>
            </a:avLst>
          </a:prstGeom>
          <a:solidFill>
            <a:srgbClr val="EEF3EF"/>
          </a:solidFill>
          <a:ln w="12700">
            <a:solidFill>
              <a:srgbClr val="D9E0DB"/>
            </a:solidFill>
            <a:prstDash val="solid"/>
          </a:ln>
        </p:spPr>
      </p:sp>
      <p:sp>
        <p:nvSpPr>
          <p:cNvPr id="29" name="Shape 22"/>
          <p:cNvSpPr/>
          <p:nvPr/>
        </p:nvSpPr>
        <p:spPr>
          <a:xfrm>
            <a:off x="4846320" y="3529584"/>
            <a:ext cx="548640" cy="548640"/>
          </a:xfrm>
          <a:prstGeom prst="ellipse">
            <a:avLst/>
          </a:prstGeom>
          <a:solidFill>
            <a:srgbClr val="0F5B45"/>
          </a:solidFill>
          <a:ln w="12700">
            <a:solidFill>
              <a:srgbClr val="0F5B45"/>
            </a:solidFill>
            <a:prstDash val="solid"/>
          </a:ln>
        </p:spPr>
      </p:sp>
      <p:pic>
        <p:nvPicPr>
          <p:cNvPr id="30" name="Image 5" descr="preencoded.png">    </p:cNvPr>
          <p:cNvPicPr>
            <a:picLocks noChangeAspect="1"/>
          </p:cNvPicPr>
          <p:nvPr/>
        </p:nvPicPr>
        <p:blipFill>
          <a:blip r:embed="rId6"/>
          <a:stretch>
            <a:fillRect/>
          </a:stretch>
        </p:blipFill>
        <p:spPr>
          <a:xfrm>
            <a:off x="4994453" y="3677717"/>
            <a:ext cx="252374" cy="252374"/>
          </a:xfrm>
          <a:prstGeom prst="rect">
            <a:avLst/>
          </a:prstGeom>
        </p:spPr>
      </p:pic>
      <p:sp>
        <p:nvSpPr>
          <p:cNvPr id="31" name="Text 23"/>
          <p:cNvSpPr txBox="1"/>
          <p:nvPr/>
        </p:nvSpPr>
        <p:spPr>
          <a:xfrm>
            <a:off x="5577840" y="3456432"/>
            <a:ext cx="2971800" cy="320040"/>
          </a:xfrm>
          <a:prstGeom prst="rect">
            <a:avLst/>
          </a:prstGeom>
          <a:noFill/>
          <a:ln/>
        </p:spPr>
        <p:txBody>
          <a:bodyPr wrap="square" lIns="0" tIns="0" rIns="0" bIns="0" rtlCol="0" anchor="ctr"/>
          <a:lstStyle/>
          <a:p>
            <a:pPr indent="0" marL="0">
              <a:buNone/>
            </a:pPr>
            <a:r>
              <a:rPr lang="en-US" sz="1600" b="1" dirty="0">
                <a:solidFill>
                  <a:srgbClr val="12201A"/>
                </a:solidFill>
                <a:latin typeface="Calibri" pitchFamily="34" charset="0"/>
                <a:ea typeface="Calibri" pitchFamily="34" charset="-122"/>
                <a:cs typeface="Calibri" pitchFamily="34" charset="-120"/>
              </a:rPr>
              <a:t>Traceability</a:t>
            </a:r>
            <a:endParaRPr lang="en-US" sz="1600" dirty="0"/>
          </a:p>
        </p:txBody>
      </p:sp>
      <p:sp>
        <p:nvSpPr>
          <p:cNvPr id="32" name="Text 24"/>
          <p:cNvSpPr txBox="1"/>
          <p:nvPr/>
        </p:nvSpPr>
        <p:spPr>
          <a:xfrm>
            <a:off x="5577840" y="3785616"/>
            <a:ext cx="2971800" cy="411480"/>
          </a:xfrm>
          <a:prstGeom prst="rect">
            <a:avLst/>
          </a:prstGeom>
          <a:noFill/>
          <a:ln/>
        </p:spPr>
        <p:txBody>
          <a:bodyPr wrap="square" lIns="0" tIns="0" rIns="0" bIns="0" rtlCol="0" anchor="t"/>
          <a:lstStyle/>
          <a:p>
            <a:pPr indent="0" marL="0">
              <a:buNone/>
            </a:pPr>
            <a:r>
              <a:rPr lang="en-US" sz="1300" dirty="0">
                <a:solidFill>
                  <a:srgbClr val="5B675F"/>
                </a:solidFill>
                <a:latin typeface="Calibri" pitchFamily="34" charset="0"/>
                <a:ea typeface="Calibri" pitchFamily="34" charset="-122"/>
                <a:cs typeface="Calibri" pitchFamily="34" charset="-120"/>
              </a:rPr>
              <a:t>Each report image records its exact transformation</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12201A"/>
                </a:solidFill>
                <a:latin typeface="Calibri" pitchFamily="34" charset="0"/>
                <a:ea typeface="Calibri" pitchFamily="34" charset="-122"/>
                <a:cs typeface="Calibri" pitchFamily="34" charset="-120"/>
              </a:rPr>
              <a:t>Built to be trusted</a:t>
            </a:r>
            <a:endParaRPr lang="en-US" sz="3000" dirty="0"/>
          </a:p>
        </p:txBody>
      </p:sp>
      <p:sp>
        <p:nvSpPr>
          <p:cNvPr id="3" name="Text 1"/>
          <p:cNvSpPr txBox="1"/>
          <p:nvPr/>
        </p:nvSpPr>
        <p:spPr>
          <a:xfrm>
            <a:off x="457200" y="1234440"/>
            <a:ext cx="3840480" cy="3291840"/>
          </a:xfrm>
          <a:prstGeom prst="rect">
            <a:avLst/>
          </a:prstGeom>
          <a:noFill/>
          <a:ln/>
        </p:spPr>
        <p:txBody>
          <a:bodyPr wrap="square" lIns="0" tIns="0" rIns="0" bIns="0" rtlCol="0" anchor="t"/>
          <a:lstStyle/>
          <a:p>
            <a:pPr marL="203200" indent="-203200">
              <a:spcAft>
                <a:spcPts val="1200"/>
              </a:spcAft>
              <a:buSzPct val="100000"/>
              <a:buChar char="•"/>
            </a:pPr>
            <a:r>
              <a:rPr lang="en-US" sz="1600" dirty="0">
                <a:solidFill>
                  <a:srgbClr val="12201A"/>
                </a:solidFill>
                <a:latin typeface="Calibri" pitchFamily="34" charset="0"/>
                <a:ea typeface="Calibri" pitchFamily="34" charset="-122"/>
                <a:cs typeface="Calibri" pitchFamily="34" charset="-120"/>
              </a:rPr>
              <a:t>Real photos, with credit and licence</a:t>
            </a:r>
            <a:endParaRPr lang="en-US" sz="1600" dirty="0"/>
          </a:p>
          <a:p>
            <a:pPr marL="203200" indent="-203200">
              <a:spcAft>
                <a:spcPts val="1200"/>
              </a:spcAft>
              <a:buSzPct val="100000"/>
              <a:buChar char="•"/>
            </a:pPr>
            <a:r>
              <a:rPr lang="en-US" sz="1600" dirty="0">
                <a:solidFill>
                  <a:srgbClr val="12201A"/>
                </a:solidFill>
                <a:latin typeface="Calibri" pitchFamily="34" charset="0"/>
                <a:ea typeface="Calibri" pitchFamily="34" charset="-122"/>
                <a:cs typeface="Calibri" pitchFamily="34" charset="-120"/>
              </a:rPr>
              <a:t>Live rain and river data. Simulations are always labelled</a:t>
            </a:r>
            <a:endParaRPr lang="en-US" sz="1600" dirty="0"/>
          </a:p>
          <a:p>
            <a:pPr marL="203200" indent="-203200">
              <a:spcAft>
                <a:spcPts val="1200"/>
              </a:spcAft>
              <a:buSzPct val="100000"/>
              <a:buChar char="•"/>
            </a:pPr>
            <a:r>
              <a:rPr lang="en-US" sz="1600" dirty="0">
                <a:solidFill>
                  <a:srgbClr val="12201A"/>
                </a:solidFill>
                <a:latin typeface="Calibri" pitchFamily="34" charset="0"/>
                <a:ea typeface="Calibri" pitchFamily="34" charset="-122"/>
                <a:cs typeface="Calibri" pitchFamily="34" charset="-120"/>
              </a:rPr>
              <a:t>The AI checks itself. Unsure results go to a person</a:t>
            </a:r>
            <a:endParaRPr lang="en-US" sz="1600" dirty="0"/>
          </a:p>
          <a:p>
            <a:pPr marL="203200" indent="-203200">
              <a:spcAft>
                <a:spcPts val="1200"/>
              </a:spcAft>
              <a:buSzPct val="100000"/>
              <a:buChar char="•"/>
            </a:pPr>
            <a:r>
              <a:rPr lang="en-US" sz="1600" dirty="0">
                <a:solidFill>
                  <a:srgbClr val="12201A"/>
                </a:solidFill>
                <a:latin typeface="Calibri" pitchFamily="34" charset="0"/>
                <a:ea typeface="Calibri" pitchFamily="34" charset="-122"/>
                <a:cs typeface="Calibri" pitchFamily="34" charset="-120"/>
              </a:rPr>
              <a:t>Works without AI keys, using simple rules instead</a:t>
            </a:r>
            <a:endParaRPr lang="en-US" sz="1600" dirty="0"/>
          </a:p>
        </p:txBody>
      </p:sp>
      <p:sp>
        <p:nvSpPr>
          <p:cNvPr id="4" name="Shape 2"/>
          <p:cNvSpPr/>
          <p:nvPr/>
        </p:nvSpPr>
        <p:spPr>
          <a:xfrm>
            <a:off x="4398264" y="1152144"/>
            <a:ext cx="4325112" cy="2834640"/>
          </a:xfrm>
          <a:prstGeom prst="rect">
            <a:avLst/>
          </a:prstGeom>
          <a:solidFill>
            <a:srgbClr val="FFFFFF"/>
          </a:solidFill>
          <a:ln w="12700">
            <a:solidFill>
              <a:srgbClr val="D9E0DB"/>
            </a:solidFill>
            <a:prstDash val="solid"/>
          </a:ln>
          <a:effectLst>
            <a:outerShdw sx="100000" sy="100000" kx="0" ky="0" algn="bl" rotWithShape="0" blurRad="101600" dist="25400" dir="5400000">
              <a:srgbClr val="000000">
                <a:alpha val="12000"/>
              </a:srgbClr>
            </a:outerShdw>
          </a:effectLst>
        </p:spPr>
      </p:sp>
      <p:pic>
        <p:nvPicPr>
          <p:cNvPr id="5" name="Image 0" descr="D:\Current Projects\cloudinary-impact-atlas\docs\screenshots\07-architecture.jpg">    </p:cNvPr>
          <p:cNvPicPr>
            <a:picLocks noChangeAspect="1"/>
          </p:cNvPicPr>
          <p:nvPr/>
        </p:nvPicPr>
        <p:blipFill>
          <a:blip r:embed="rId1"/>
          <a:stretch>
            <a:fillRect/>
          </a:stretch>
        </p:blipFill>
        <p:spPr>
          <a:xfrm>
            <a:off x="4434840" y="1188720"/>
            <a:ext cx="4251960" cy="2761488"/>
          </a:xfrm>
          <a:prstGeom prst="rect">
            <a:avLst/>
          </a:prstGeom>
        </p:spPr>
      </p:pic>
      <p:sp>
        <p:nvSpPr>
          <p:cNvPr id="6" name="Text 3"/>
          <p:cNvSpPr txBox="1"/>
          <p:nvPr/>
        </p:nvSpPr>
        <p:spPr>
          <a:xfrm>
            <a:off x="4434840" y="4069080"/>
            <a:ext cx="4251960" cy="411480"/>
          </a:xfrm>
          <a:prstGeom prst="rect">
            <a:avLst/>
          </a:prstGeom>
          <a:noFill/>
          <a:ln/>
        </p:spPr>
        <p:txBody>
          <a:bodyPr wrap="square" lIns="0" tIns="0" rIns="0" bIns="0" rtlCol="0" anchor="ctr"/>
          <a:lstStyle/>
          <a:p>
            <a:pPr indent="0" marL="0">
              <a:buNone/>
            </a:pPr>
            <a:r>
              <a:rPr lang="en-US" sz="1100" dirty="0">
                <a:solidFill>
                  <a:srgbClr val="5B675F"/>
                </a:solidFill>
                <a:latin typeface="Calibri" pitchFamily="34" charset="0"/>
                <a:ea typeface="Calibri" pitchFamily="34" charset="-122"/>
                <a:cs typeface="Calibri" pitchFamily="34" charset="-120"/>
              </a:rPr>
              <a:t>Next.js, Supabase, Cloudinary, NVIDIA Nemotron, Open-Meteo. Diagram made with Archify.</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3B2E"/>
        </a:solidFill>
      </p:bgPr>
    </p:bg>
    <p:spTree>
      <p:nvGrpSpPr>
        <p:cNvPr id="1" name=""/>
        <p:cNvGrpSpPr/>
        <p:nvPr/>
      </p:nvGrpSpPr>
      <p:grpSpPr>
        <a:xfrm>
          <a:off x="0" y="0"/>
          <a:ext cx="0" cy="0"/>
          <a:chOff x="0" y="0"/>
          <a:chExt cx="0" cy="0"/>
        </a:xfrm>
      </p:grpSpPr>
      <p:sp>
        <p:nvSpPr>
          <p:cNvPr id="2" name="Text 0"/>
          <p:cNvSpPr txBox="1"/>
          <p:nvPr/>
        </p:nvSpPr>
        <p:spPr>
          <a:xfrm>
            <a:off x="457200" y="548640"/>
            <a:ext cx="4114800" cy="54864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What is next</a:t>
            </a:r>
            <a:endParaRPr lang="en-US" sz="3000" dirty="0"/>
          </a:p>
        </p:txBody>
      </p:sp>
      <p:sp>
        <p:nvSpPr>
          <p:cNvPr id="3" name="Text 1"/>
          <p:cNvSpPr txBox="1"/>
          <p:nvPr/>
        </p:nvSpPr>
        <p:spPr>
          <a:xfrm>
            <a:off x="457200" y="1325880"/>
            <a:ext cx="4023360" cy="2377440"/>
          </a:xfrm>
          <a:prstGeom prst="rect">
            <a:avLst/>
          </a:prstGeom>
          <a:noFill/>
          <a:ln/>
        </p:spPr>
        <p:txBody>
          <a:bodyPr wrap="square" lIns="0" tIns="0" rIns="0" bIns="0" rtlCol="0" anchor="t"/>
          <a:lstStyle/>
          <a:p>
            <a:pPr marL="203200" indent="-203200">
              <a:spcAft>
                <a:spcPts val="1200"/>
              </a:spcAft>
              <a:buSzPct val="100000"/>
              <a:buChar char="•"/>
            </a:pPr>
            <a:r>
              <a:rPr lang="en-US" sz="1700" dirty="0">
                <a:solidFill>
                  <a:srgbClr val="B9D3C7"/>
                </a:solidFill>
                <a:latin typeface="Calibri" pitchFamily="34" charset="0"/>
                <a:ea typeface="Calibri" pitchFamily="34" charset="-122"/>
                <a:cs typeface="Calibri" pitchFamily="34" charset="-120"/>
              </a:rPr>
              <a:t>More playbooks: forests, waste, bridges, wildlife</a:t>
            </a:r>
            <a:endParaRPr lang="en-US" sz="1700" dirty="0"/>
          </a:p>
          <a:p>
            <a:pPr marL="203200" indent="-203200">
              <a:spcAft>
                <a:spcPts val="1200"/>
              </a:spcAft>
              <a:buSzPct val="100000"/>
              <a:buChar char="•"/>
            </a:pPr>
            <a:r>
              <a:rPr lang="en-US" sz="1700" dirty="0">
                <a:solidFill>
                  <a:srgbClr val="B9D3C7"/>
                </a:solidFill>
                <a:latin typeface="Calibri" pitchFamily="34" charset="0"/>
                <a:ea typeface="Calibri" pitchFamily="34" charset="-122"/>
                <a:cs typeface="Calibri" pitchFamily="34" charset="-120"/>
              </a:rPr>
              <a:t>Read video frames, not just photos</a:t>
            </a:r>
            <a:endParaRPr lang="en-US" sz="1700" dirty="0"/>
          </a:p>
          <a:p>
            <a:pPr marL="203200" indent="-203200">
              <a:spcAft>
                <a:spcPts val="1200"/>
              </a:spcAft>
              <a:buSzPct val="100000"/>
              <a:buChar char="•"/>
            </a:pPr>
            <a:r>
              <a:rPr lang="en-US" sz="1700" dirty="0">
                <a:solidFill>
                  <a:srgbClr val="B9D3C7"/>
                </a:solidFill>
                <a:latin typeface="Calibri" pitchFamily="34" charset="0"/>
                <a:ea typeface="Calibri" pitchFamily="34" charset="-122"/>
                <a:cs typeface="Calibri" pitchFamily="34" charset="-120"/>
              </a:rPr>
              <a:t>Alerts by SMS and WhatsApp</a:t>
            </a:r>
            <a:endParaRPr lang="en-US" sz="1700" dirty="0"/>
          </a:p>
          <a:p>
            <a:pPr marL="203200" indent="-203200">
              <a:spcAft>
                <a:spcPts val="1200"/>
              </a:spcAft>
              <a:buSzPct val="100000"/>
              <a:buChar char="•"/>
            </a:pPr>
            <a:r>
              <a:rPr lang="en-US" sz="1700" dirty="0">
                <a:solidFill>
                  <a:srgbClr val="B9D3C7"/>
                </a:solidFill>
                <a:latin typeface="Calibri" pitchFamily="34" charset="0"/>
                <a:ea typeface="Calibri" pitchFamily="34" charset="-122"/>
                <a:cs typeface="Calibri" pitchFamily="34" charset="-120"/>
              </a:rPr>
              <a:t>Move search to pgvector for bigger archives</a:t>
            </a:r>
            <a:endParaRPr lang="en-US" sz="1700" dirty="0"/>
          </a:p>
        </p:txBody>
      </p:sp>
      <p:sp>
        <p:nvSpPr>
          <p:cNvPr id="4" name="Text 2"/>
          <p:cNvSpPr txBox="1"/>
          <p:nvPr/>
        </p:nvSpPr>
        <p:spPr>
          <a:xfrm>
            <a:off x="4846320" y="1188720"/>
            <a:ext cx="3840480" cy="822960"/>
          </a:xfrm>
          <a:prstGeom prst="rect">
            <a:avLst/>
          </a:prstGeom>
          <a:noFill/>
          <a:ln/>
        </p:spPr>
        <p:txBody>
          <a:bodyPr wrap="square" lIns="0" tIns="0" rIns="0" bIns="0" rtlCol="0" anchor="ctr"/>
          <a:lstStyle/>
          <a:p>
            <a:pPr indent="0" marL="0">
              <a:buNone/>
            </a:pPr>
            <a:r>
              <a:rPr lang="en-US" sz="4400" b="1" dirty="0">
                <a:solidFill>
                  <a:srgbClr val="F0C93C"/>
                </a:solidFill>
                <a:latin typeface="Calibri" pitchFamily="34" charset="0"/>
                <a:ea typeface="Calibri" pitchFamily="34" charset="-122"/>
                <a:cs typeface="Calibri" pitchFamily="34" charset="-120"/>
              </a:rPr>
              <a:t>Thank you</a:t>
            </a:r>
            <a:endParaRPr lang="en-US" sz="4400" dirty="0"/>
          </a:p>
        </p:txBody>
      </p:sp>
      <p:sp>
        <p:nvSpPr>
          <p:cNvPr id="5" name="Text 3"/>
          <p:cNvSpPr txBox="1"/>
          <p:nvPr/>
        </p:nvSpPr>
        <p:spPr>
          <a:xfrm>
            <a:off x="4846320" y="2103120"/>
            <a:ext cx="3840480"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Team NAVGATI</a:t>
            </a:r>
            <a:endParaRPr lang="en-US" sz="2000" dirty="0"/>
          </a:p>
        </p:txBody>
      </p:sp>
      <p:sp>
        <p:nvSpPr>
          <p:cNvPr id="6" name="Text 4">
            <a:hlinkClick r:id="rId1" tooltip=""/>
          </p:cNvPr>
          <p:cNvSpPr txBox="1"/>
          <p:nvPr/>
        </p:nvSpPr>
        <p:spPr>
          <a:xfrm>
            <a:off x="4846320" y="2606040"/>
            <a:ext cx="3931920" cy="320040"/>
          </a:xfrm>
          <a:prstGeom prst="rect">
            <a:avLst/>
          </a:prstGeom>
          <a:noFill/>
          <a:ln/>
        </p:spPr>
        <p:txBody>
          <a:bodyPr wrap="square" lIns="0" tIns="0" rIns="0" bIns="0" rtlCol="0" anchor="ctr"/>
          <a:lstStyle/>
          <a:p>
            <a:pPr indent="0" marL="0">
              <a:buNone/>
            </a:pPr>
            <a:r>
              <a:rPr lang="en-US" sz="1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github.com/Team-NAVGATI/cloudinary-impact-atlas</a:t>
            </a:r>
            <a:endParaRPr lang="en-US" sz="1400" dirty="0"/>
          </a:p>
        </p:txBody>
      </p:sp>
      <p:sp>
        <p:nvSpPr>
          <p:cNvPr id="7" name="Text 5"/>
          <p:cNvSpPr txBox="1"/>
          <p:nvPr/>
        </p:nvSpPr>
        <p:spPr>
          <a:xfrm>
            <a:off x="4846320" y="3017520"/>
            <a:ext cx="3840480" cy="320040"/>
          </a:xfrm>
          <a:prstGeom prst="rect">
            <a:avLst/>
          </a:prstGeom>
          <a:noFill/>
          <a:ln/>
        </p:spPr>
        <p:txBody>
          <a:bodyPr wrap="square" lIns="0" tIns="0" rIns="0" bIns="0" rtlCol="0" anchor="ctr"/>
          <a:lstStyle/>
          <a:p>
            <a:pPr indent="0" marL="0">
              <a:buNone/>
            </a:pPr>
            <a:r>
              <a:rPr lang="en-US" sz="1400" dirty="0">
                <a:solidFill>
                  <a:srgbClr val="B9D3C7"/>
                </a:solidFill>
                <a:latin typeface="Calibri" pitchFamily="34" charset="0"/>
                <a:ea typeface="Calibri" pitchFamily="34" charset="-122"/>
                <a:cs typeface="Calibri" pitchFamily="34" charset="-120"/>
              </a:rPr>
              <a:t>Try the demo from the sign-in page.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Team NAVGATI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Impact Atlas: field photos in, proof out</dc:title>
  <dc:subject>PptxGenJS Presentation</dc:subject>
  <dc:creator>Team NAVGATI</dc:creator>
  <cp:lastModifiedBy>Team NAVGATI</cp:lastModifiedBy>
  <cp:revision>1</cp:revision>
  <dcterms:created xsi:type="dcterms:W3CDTF">2026-09-30T15:35:47Z</dcterms:created>
  <dcterms:modified xsi:type="dcterms:W3CDTF">2026-09-30T15:35:47Z</dcterms:modified>
</cp:coreProperties>
</file>